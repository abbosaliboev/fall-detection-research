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60" r:id="rId6"/>
    <p:sldId id="315" r:id="rId7"/>
    <p:sldId id="261" r:id="rId8"/>
    <p:sldId id="262" r:id="rId9"/>
    <p:sldId id="265" r:id="rId10"/>
    <p:sldId id="257" r:id="rId11"/>
    <p:sldId id="297" r:id="rId12"/>
    <p:sldId id="264" r:id="rId13"/>
    <p:sldId id="266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13" r:id="rId22"/>
    <p:sldId id="307" r:id="rId23"/>
    <p:sldId id="308" r:id="rId24"/>
    <p:sldId id="309" r:id="rId25"/>
    <p:sldId id="310" r:id="rId26"/>
    <p:sldId id="311" r:id="rId27"/>
    <p:sldId id="312" r:id="rId28"/>
    <p:sldId id="314" r:id="rId29"/>
    <p:sldId id="272" r:id="rId30"/>
    <p:sldId id="270" r:id="rId31"/>
  </p:sldIdLst>
  <p:sldSz cx="9144000" cy="5143500"/>
  <p:notesSz cx="6858000" cy="9144000"/>
  <p:embeddedFontLst>
    <p:embeddedFont>
      <p:font typeface="Poppins" panose="00000500000000000000"/>
      <p:regular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0" userDrawn="1">
          <p15:clr>
            <a:srgbClr val="747775"/>
          </p15:clr>
        </p15:guide>
        <p15:guide id="2" pos="2995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7A47DB2-CF74-43BB-A3BB-4E7B9E0F446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585264E0-3481-454F-AFA1-BE3EFBD138C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580"/>
        <p:guide pos="2995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.fntdata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5d5342532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5d5342532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431007ba2_0_2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431007ba2_0_2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84d99d1a72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84d99d1a72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184d99d1a72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184d99d1a72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4dda1946d_6_3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54dda1946d_6_3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910c9cffe2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910c9cffe2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910c9cffe2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910c9cffe2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431007ba2_0_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431007ba2_0_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910c9cffe2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910c9cffe2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910c9cffe2_0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1910c9cffe2_0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910c9cffe2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910c9cffe2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4dda1946d_6_3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54dda1946d_6_3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910c9cffe2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910c9cffe2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910c9cffe2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910c9cffe2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431007ba2_0_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431007ba2_0_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910c9cffe2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910c9cffe2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910c9cffe2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910c9cffe2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4dda1946d_6_3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54dda1946d_6_3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910c9cffe2_0_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1910c9cffe2_0_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910c9cffe2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910c9cffe2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431007ba2_0_2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431007ba2_0_2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910c9cffe2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1910c9cffe2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910c9cffe2_0_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910c9cffe2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54dda1946d_6_30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54dda1946d_6_30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4dda1946d_4_27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4dda1946d_4_27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54dda1946d_4_27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54dda1946d_4_27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080675" y="1687650"/>
            <a:ext cx="6350100" cy="143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2080675" y="3183000"/>
            <a:ext cx="6350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0" y="0"/>
            <a:ext cx="1721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2" name="Google Shape;12;p2"/>
          <p:cNvCxnSpPr/>
          <p:nvPr/>
        </p:nvCxnSpPr>
        <p:spPr>
          <a:xfrm>
            <a:off x="8680750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5911750" y="0"/>
            <a:ext cx="323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5" name="Google Shape;15;p3"/>
          <p:cNvCxnSpPr/>
          <p:nvPr/>
        </p:nvCxnSpPr>
        <p:spPr>
          <a:xfrm>
            <a:off x="712819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1500200" y="2699650"/>
            <a:ext cx="3362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type="title" idx="2" hasCustomPrompt="1"/>
          </p:nvPr>
        </p:nvSpPr>
        <p:spPr>
          <a:xfrm>
            <a:off x="1500200" y="1602050"/>
            <a:ext cx="1288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type="body" idx="1"/>
          </p:nvPr>
        </p:nvSpPr>
        <p:spPr>
          <a:xfrm>
            <a:off x="720000" y="1017725"/>
            <a:ext cx="7704000" cy="3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>
            <a:off x="8844200" y="0"/>
            <a:ext cx="300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22" name="Google Shape;22;p4"/>
          <p:cNvCxnSpPr/>
          <p:nvPr/>
        </p:nvCxnSpPr>
        <p:spPr>
          <a:xfrm>
            <a:off x="208794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3" name="Google Shape;23;p4"/>
          <p:cNvGrpSpPr/>
          <p:nvPr/>
        </p:nvGrpSpPr>
        <p:grpSpPr>
          <a:xfrm flipH="1">
            <a:off x="-56275" y="4604000"/>
            <a:ext cx="8175300" cy="0"/>
            <a:chOff x="2220050" y="1547100"/>
            <a:chExt cx="8175300" cy="0"/>
          </a:xfrm>
        </p:grpSpPr>
        <p:cxnSp>
          <p:nvCxnSpPr>
            <p:cNvPr id="24" name="Google Shape;24;p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" name="Google Shape;25;p4"/>
            <p:cNvCxnSpPr/>
            <p:nvPr/>
          </p:nvCxnSpPr>
          <p:spPr>
            <a:xfrm>
              <a:off x="2684450" y="1547100"/>
              <a:ext cx="7710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7776150" y="0"/>
            <a:ext cx="136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28" name="Google Shape;28;p5"/>
          <p:cNvCxnSpPr/>
          <p:nvPr/>
        </p:nvCxnSpPr>
        <p:spPr>
          <a:xfrm>
            <a:off x="255619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720000" y="445025"/>
            <a:ext cx="6166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type="subTitle" idx="1"/>
          </p:nvPr>
        </p:nvSpPr>
        <p:spPr>
          <a:xfrm>
            <a:off x="3873881" y="2193146"/>
            <a:ext cx="30009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subTitle" idx="2"/>
          </p:nvPr>
        </p:nvSpPr>
        <p:spPr>
          <a:xfrm>
            <a:off x="720000" y="2193152"/>
            <a:ext cx="30009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ubTitle" idx="3"/>
          </p:nvPr>
        </p:nvSpPr>
        <p:spPr>
          <a:xfrm>
            <a:off x="720000" y="1340875"/>
            <a:ext cx="3000900" cy="8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5"/>
          <p:cNvSpPr txBox="1"/>
          <p:nvPr>
            <p:ph type="subTitle" idx="4"/>
          </p:nvPr>
        </p:nvSpPr>
        <p:spPr>
          <a:xfrm>
            <a:off x="3873881" y="1340875"/>
            <a:ext cx="3000900" cy="8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34" name="Google Shape;34;p5"/>
          <p:cNvGrpSpPr/>
          <p:nvPr/>
        </p:nvGrpSpPr>
        <p:grpSpPr>
          <a:xfrm flipH="1">
            <a:off x="-18775" y="4604000"/>
            <a:ext cx="7429500" cy="0"/>
            <a:chOff x="2220050" y="1547100"/>
            <a:chExt cx="7429500" cy="0"/>
          </a:xfrm>
        </p:grpSpPr>
        <p:cxnSp>
          <p:nvCxnSpPr>
            <p:cNvPr id="35" name="Google Shape;35;p5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5"/>
            <p:cNvCxnSpPr/>
            <p:nvPr/>
          </p:nvCxnSpPr>
          <p:spPr>
            <a:xfrm>
              <a:off x="2684450" y="1547100"/>
              <a:ext cx="696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/>
        </p:nvSpPr>
        <p:spPr>
          <a:xfrm>
            <a:off x="8430775" y="0"/>
            <a:ext cx="713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0" name="Google Shape;40;p6"/>
          <p:cNvCxnSpPr/>
          <p:nvPr/>
        </p:nvCxnSpPr>
        <p:spPr>
          <a:xfrm>
            <a:off x="3518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1" name="Google Shape;41;p6"/>
          <p:cNvGrpSpPr/>
          <p:nvPr/>
        </p:nvGrpSpPr>
        <p:grpSpPr>
          <a:xfrm flipH="1">
            <a:off x="-84700" y="4901150"/>
            <a:ext cx="7055100" cy="0"/>
            <a:chOff x="2220050" y="1547100"/>
            <a:chExt cx="7055100" cy="0"/>
          </a:xfrm>
        </p:grpSpPr>
        <p:cxnSp>
          <p:nvCxnSpPr>
            <p:cNvPr id="42" name="Google Shape;42;p6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6"/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6501975" y="0"/>
            <a:ext cx="2642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6" name="Google Shape;46;p7"/>
          <p:cNvCxnSpPr/>
          <p:nvPr/>
        </p:nvCxnSpPr>
        <p:spPr>
          <a:xfrm>
            <a:off x="1232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" name="Google Shape;47;p7"/>
          <p:cNvSpPr txBox="1"/>
          <p:nvPr>
            <p:ph type="subTitle" idx="1"/>
          </p:nvPr>
        </p:nvSpPr>
        <p:spPr>
          <a:xfrm>
            <a:off x="720000" y="1413363"/>
            <a:ext cx="5321400" cy="267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title"/>
          </p:nvPr>
        </p:nvSpPr>
        <p:spPr>
          <a:xfrm>
            <a:off x="720000" y="445025"/>
            <a:ext cx="532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9" name="Google Shape;49;p7"/>
          <p:cNvGrpSpPr/>
          <p:nvPr/>
        </p:nvGrpSpPr>
        <p:grpSpPr>
          <a:xfrm flipH="1">
            <a:off x="-93775" y="4604000"/>
            <a:ext cx="4197300" cy="0"/>
            <a:chOff x="2220050" y="1547100"/>
            <a:chExt cx="4197300" cy="0"/>
          </a:xfrm>
        </p:grpSpPr>
        <p:cxnSp>
          <p:nvCxnSpPr>
            <p:cNvPr id="50" name="Google Shape;50;p7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7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3454075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8"/>
          <p:cNvSpPr/>
          <p:nvPr/>
        </p:nvSpPr>
        <p:spPr>
          <a:xfrm>
            <a:off x="0" y="0"/>
            <a:ext cx="266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55" name="Google Shape;55;p8"/>
          <p:cNvCxnSpPr/>
          <p:nvPr/>
        </p:nvCxnSpPr>
        <p:spPr>
          <a:xfrm>
            <a:off x="843077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6" name="Google Shape;56;p8"/>
          <p:cNvGrpSpPr/>
          <p:nvPr/>
        </p:nvGrpSpPr>
        <p:grpSpPr>
          <a:xfrm>
            <a:off x="3230850" y="4760600"/>
            <a:ext cx="6025500" cy="0"/>
            <a:chOff x="2220050" y="1547100"/>
            <a:chExt cx="6025500" cy="0"/>
          </a:xfrm>
        </p:grpSpPr>
        <p:cxnSp>
          <p:nvCxnSpPr>
            <p:cNvPr id="57" name="Google Shape;57;p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>
              <a:off x="2684450" y="1547100"/>
              <a:ext cx="5561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5555725" y="0"/>
            <a:ext cx="3588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1" name="Google Shape;61;p9"/>
          <p:cNvSpPr txBox="1"/>
          <p:nvPr>
            <p:ph type="title"/>
          </p:nvPr>
        </p:nvSpPr>
        <p:spPr>
          <a:xfrm>
            <a:off x="713225" y="1254000"/>
            <a:ext cx="41586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2" name="Google Shape;62;p9"/>
          <p:cNvSpPr txBox="1"/>
          <p:nvPr>
            <p:ph type="subTitle" idx="1"/>
          </p:nvPr>
        </p:nvSpPr>
        <p:spPr>
          <a:xfrm>
            <a:off x="713225" y="3218400"/>
            <a:ext cx="41586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517944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4" name="Google Shape;64;p9"/>
          <p:cNvGrpSpPr/>
          <p:nvPr/>
        </p:nvGrpSpPr>
        <p:grpSpPr>
          <a:xfrm flipH="1">
            <a:off x="-93775" y="4604000"/>
            <a:ext cx="4197300" cy="0"/>
            <a:chOff x="2220050" y="1547100"/>
            <a:chExt cx="4197300" cy="0"/>
          </a:xfrm>
        </p:grpSpPr>
        <p:cxnSp>
          <p:nvCxnSpPr>
            <p:cNvPr id="65" name="Google Shape;65;p9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>
              <a:off x="2684450" y="1547100"/>
              <a:ext cx="3732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/>
          <p:nvPr>
            <p:ph type="pic" idx="2"/>
          </p:nvPr>
        </p:nvSpPr>
        <p:spPr>
          <a:xfrm>
            <a:off x="0" y="-14875"/>
            <a:ext cx="9144000" cy="51585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713225" y="3836875"/>
            <a:ext cx="3574200" cy="7503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 hasCustomPrompt="1"/>
          </p:nvPr>
        </p:nvSpPr>
        <p:spPr>
          <a:xfrm>
            <a:off x="3091725" y="1412738"/>
            <a:ext cx="5339100" cy="10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2" name="Google Shape;72;p11"/>
          <p:cNvSpPr txBox="1"/>
          <p:nvPr>
            <p:ph type="subTitle" idx="1"/>
          </p:nvPr>
        </p:nvSpPr>
        <p:spPr>
          <a:xfrm>
            <a:off x="3091725" y="3233663"/>
            <a:ext cx="53391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11"/>
          <p:cNvSpPr/>
          <p:nvPr/>
        </p:nvSpPr>
        <p:spPr>
          <a:xfrm>
            <a:off x="0" y="0"/>
            <a:ext cx="266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74" name="Google Shape;74;p11"/>
          <p:cNvCxnSpPr/>
          <p:nvPr/>
        </p:nvCxnSpPr>
        <p:spPr>
          <a:xfrm>
            <a:off x="88205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0" y="0"/>
            <a:ext cx="40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78" name="Google Shape;78;p13"/>
          <p:cNvCxnSpPr/>
          <p:nvPr/>
        </p:nvCxnSpPr>
        <p:spPr>
          <a:xfrm>
            <a:off x="843077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" name="Google Shape;79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type="title" idx="2" hasCustomPrompt="1"/>
          </p:nvPr>
        </p:nvSpPr>
        <p:spPr>
          <a:xfrm>
            <a:off x="720000" y="1579950"/>
            <a:ext cx="765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type="title" idx="3" hasCustomPrompt="1"/>
          </p:nvPr>
        </p:nvSpPr>
        <p:spPr>
          <a:xfrm>
            <a:off x="720000" y="2914288"/>
            <a:ext cx="765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type="title" idx="4" hasCustomPrompt="1"/>
          </p:nvPr>
        </p:nvSpPr>
        <p:spPr>
          <a:xfrm>
            <a:off x="3371772" y="1579950"/>
            <a:ext cx="765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/>
          <p:nvPr>
            <p:ph type="title" idx="5" hasCustomPrompt="1"/>
          </p:nvPr>
        </p:nvSpPr>
        <p:spPr>
          <a:xfrm>
            <a:off x="3371772" y="2914288"/>
            <a:ext cx="765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type="title" idx="6" hasCustomPrompt="1"/>
          </p:nvPr>
        </p:nvSpPr>
        <p:spPr>
          <a:xfrm>
            <a:off x="6023544" y="1579950"/>
            <a:ext cx="765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type="title" idx="7" hasCustomPrompt="1"/>
          </p:nvPr>
        </p:nvSpPr>
        <p:spPr>
          <a:xfrm>
            <a:off x="6023544" y="2914288"/>
            <a:ext cx="7650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type="subTitle" idx="1"/>
          </p:nvPr>
        </p:nvSpPr>
        <p:spPr>
          <a:xfrm>
            <a:off x="720000" y="1978648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7" name="Google Shape;87;p13"/>
          <p:cNvSpPr txBox="1"/>
          <p:nvPr>
            <p:ph type="subTitle" idx="8"/>
          </p:nvPr>
        </p:nvSpPr>
        <p:spPr>
          <a:xfrm>
            <a:off x="3371774" y="1978648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8" name="Google Shape;88;p13"/>
          <p:cNvSpPr txBox="1"/>
          <p:nvPr>
            <p:ph type="subTitle" idx="9"/>
          </p:nvPr>
        </p:nvSpPr>
        <p:spPr>
          <a:xfrm>
            <a:off x="6023548" y="1978648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3"/>
          <p:cNvSpPr txBox="1"/>
          <p:nvPr>
            <p:ph type="subTitle" idx="13"/>
          </p:nvPr>
        </p:nvSpPr>
        <p:spPr>
          <a:xfrm>
            <a:off x="720000" y="3313049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0" name="Google Shape;90;p13"/>
          <p:cNvSpPr txBox="1"/>
          <p:nvPr>
            <p:ph type="subTitle" idx="14"/>
          </p:nvPr>
        </p:nvSpPr>
        <p:spPr>
          <a:xfrm>
            <a:off x="3371774" y="3313049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3"/>
          <p:cNvSpPr txBox="1"/>
          <p:nvPr>
            <p:ph type="subTitle" idx="15"/>
          </p:nvPr>
        </p:nvSpPr>
        <p:spPr>
          <a:xfrm>
            <a:off x="6023548" y="3313049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grpSp>
        <p:nvGrpSpPr>
          <p:cNvPr id="92" name="Google Shape;92;p13"/>
          <p:cNvGrpSpPr/>
          <p:nvPr/>
        </p:nvGrpSpPr>
        <p:grpSpPr>
          <a:xfrm>
            <a:off x="720000" y="4854300"/>
            <a:ext cx="8536500" cy="0"/>
            <a:chOff x="2220050" y="1547100"/>
            <a:chExt cx="8536500" cy="0"/>
          </a:xfrm>
        </p:grpSpPr>
        <p:cxnSp>
          <p:nvCxnSpPr>
            <p:cNvPr id="93" name="Google Shape;93;p1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13"/>
            <p:cNvCxnSpPr/>
            <p:nvPr/>
          </p:nvCxnSpPr>
          <p:spPr>
            <a:xfrm>
              <a:off x="2684450" y="1547100"/>
              <a:ext cx="8072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0" y="0"/>
            <a:ext cx="40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98" name="Google Shape;98;p14"/>
          <p:cNvCxnSpPr/>
          <p:nvPr/>
        </p:nvCxnSpPr>
        <p:spPr>
          <a:xfrm>
            <a:off x="8783850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" name="Google Shape;99;p14"/>
          <p:cNvGrpSpPr/>
          <p:nvPr/>
        </p:nvGrpSpPr>
        <p:grpSpPr>
          <a:xfrm>
            <a:off x="1501085" y="4854300"/>
            <a:ext cx="7698000" cy="0"/>
            <a:chOff x="2220050" y="1547100"/>
            <a:chExt cx="7698000" cy="0"/>
          </a:xfrm>
        </p:grpSpPr>
        <p:cxnSp>
          <p:nvCxnSpPr>
            <p:cNvPr id="100" name="Google Shape;100;p1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14"/>
            <p:cNvCxnSpPr/>
            <p:nvPr/>
          </p:nvCxnSpPr>
          <p:spPr>
            <a:xfrm>
              <a:off x="2684450" y="1547100"/>
              <a:ext cx="7233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>
            <p:ph type="pic" idx="2"/>
          </p:nvPr>
        </p:nvSpPr>
        <p:spPr>
          <a:xfrm>
            <a:off x="1377525" y="0"/>
            <a:ext cx="3802500" cy="30339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5"/>
          <p:cNvSpPr/>
          <p:nvPr>
            <p:ph type="pic" idx="3"/>
          </p:nvPr>
        </p:nvSpPr>
        <p:spPr>
          <a:xfrm>
            <a:off x="5516825" y="-23825"/>
            <a:ext cx="3643800" cy="51672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5"/>
          <p:cNvSpPr/>
          <p:nvPr/>
        </p:nvSpPr>
        <p:spPr>
          <a:xfrm>
            <a:off x="0" y="0"/>
            <a:ext cx="1040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06" name="Google Shape;106;p15"/>
          <p:cNvCxnSpPr/>
          <p:nvPr/>
        </p:nvCxnSpPr>
        <p:spPr>
          <a:xfrm>
            <a:off x="88055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 txBox="1"/>
          <p:nvPr>
            <p:ph type="title"/>
          </p:nvPr>
        </p:nvSpPr>
        <p:spPr>
          <a:xfrm>
            <a:off x="1377513" y="3108350"/>
            <a:ext cx="3802500" cy="62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type="subTitle" idx="1"/>
          </p:nvPr>
        </p:nvSpPr>
        <p:spPr>
          <a:xfrm>
            <a:off x="1377513" y="3679400"/>
            <a:ext cx="3802500" cy="92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6071025" y="539500"/>
            <a:ext cx="23598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type="subTitle" idx="1"/>
          </p:nvPr>
        </p:nvSpPr>
        <p:spPr>
          <a:xfrm>
            <a:off x="6071025" y="1570750"/>
            <a:ext cx="2359800" cy="10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12" name="Google Shape;112;p16"/>
          <p:cNvSpPr/>
          <p:nvPr>
            <p:ph type="pic" idx="2"/>
          </p:nvPr>
        </p:nvSpPr>
        <p:spPr>
          <a:xfrm>
            <a:off x="0" y="0"/>
            <a:ext cx="3428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6"/>
          <p:cNvSpPr/>
          <p:nvPr>
            <p:ph type="pic" idx="3"/>
          </p:nvPr>
        </p:nvSpPr>
        <p:spPr>
          <a:xfrm>
            <a:off x="3690500" y="3066625"/>
            <a:ext cx="4705500" cy="20769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6"/>
          <p:cNvSpPr/>
          <p:nvPr>
            <p:ph type="pic" idx="4"/>
          </p:nvPr>
        </p:nvSpPr>
        <p:spPr>
          <a:xfrm>
            <a:off x="3690375" y="0"/>
            <a:ext cx="2285700" cy="28263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6"/>
          <p:cNvSpPr/>
          <p:nvPr/>
        </p:nvSpPr>
        <p:spPr>
          <a:xfrm>
            <a:off x="8947250" y="0"/>
            <a:ext cx="196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16" name="Google Shape;116;p16"/>
          <p:cNvCxnSpPr/>
          <p:nvPr/>
        </p:nvCxnSpPr>
        <p:spPr>
          <a:xfrm>
            <a:off x="414894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9" name="Google Shape;119;p17"/>
          <p:cNvSpPr txBox="1"/>
          <p:nvPr>
            <p:ph type="body" idx="1"/>
          </p:nvPr>
        </p:nvSpPr>
        <p:spPr>
          <a:xfrm>
            <a:off x="713250" y="1257575"/>
            <a:ext cx="7717500" cy="275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20" name="Google Shape;120;p17"/>
          <p:cNvSpPr/>
          <p:nvPr/>
        </p:nvSpPr>
        <p:spPr>
          <a:xfrm>
            <a:off x="0" y="0"/>
            <a:ext cx="590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21" name="Google Shape;121;p17"/>
          <p:cNvCxnSpPr/>
          <p:nvPr/>
        </p:nvCxnSpPr>
        <p:spPr>
          <a:xfrm>
            <a:off x="873557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2" name="Google Shape;122;p17"/>
          <p:cNvGrpSpPr/>
          <p:nvPr/>
        </p:nvGrpSpPr>
        <p:grpSpPr>
          <a:xfrm>
            <a:off x="3886675" y="4976075"/>
            <a:ext cx="5341800" cy="0"/>
            <a:chOff x="2220050" y="1547100"/>
            <a:chExt cx="5341800" cy="0"/>
          </a:xfrm>
        </p:grpSpPr>
        <p:cxnSp>
          <p:nvCxnSpPr>
            <p:cNvPr id="123" name="Google Shape;123;p17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4" name="Google Shape;124;p17"/>
            <p:cNvCxnSpPr/>
            <p:nvPr/>
          </p:nvCxnSpPr>
          <p:spPr>
            <a:xfrm>
              <a:off x="2684450" y="1547100"/>
              <a:ext cx="487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0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713250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" name="Google Shape;127;p18"/>
          <p:cNvSpPr txBox="1"/>
          <p:nvPr>
            <p:ph type="body" idx="1"/>
          </p:nvPr>
        </p:nvSpPr>
        <p:spPr>
          <a:xfrm>
            <a:off x="713250" y="1017725"/>
            <a:ext cx="7717500" cy="3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0" y="0"/>
            <a:ext cx="1875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29" name="Google Shape;129;p18"/>
          <p:cNvCxnSpPr/>
          <p:nvPr/>
        </p:nvCxnSpPr>
        <p:spPr>
          <a:xfrm>
            <a:off x="82671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0" name="Google Shape;130;p18"/>
          <p:cNvGrpSpPr/>
          <p:nvPr/>
        </p:nvGrpSpPr>
        <p:grpSpPr>
          <a:xfrm>
            <a:off x="448300" y="4854275"/>
            <a:ext cx="8817600" cy="0"/>
            <a:chOff x="2220050" y="1547100"/>
            <a:chExt cx="8817600" cy="0"/>
          </a:xfrm>
        </p:grpSpPr>
        <p:cxnSp>
          <p:nvCxnSpPr>
            <p:cNvPr id="131" name="Google Shape;131;p1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Google Shape;132;p18"/>
            <p:cNvCxnSpPr/>
            <p:nvPr/>
          </p:nvCxnSpPr>
          <p:spPr>
            <a:xfrm>
              <a:off x="2684450" y="1547100"/>
              <a:ext cx="8353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0" y="0"/>
            <a:ext cx="1686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35" name="Google Shape;135;p19"/>
          <p:cNvCxnSpPr/>
          <p:nvPr/>
        </p:nvCxnSpPr>
        <p:spPr>
          <a:xfrm>
            <a:off x="8909350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7" name="Google Shape;137;p19"/>
          <p:cNvSpPr txBox="1"/>
          <p:nvPr>
            <p:ph type="subTitle" idx="1"/>
          </p:nvPr>
        </p:nvSpPr>
        <p:spPr>
          <a:xfrm>
            <a:off x="720000" y="2275025"/>
            <a:ext cx="2531100" cy="12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type="subTitle" idx="2"/>
          </p:nvPr>
        </p:nvSpPr>
        <p:spPr>
          <a:xfrm>
            <a:off x="3306477" y="2275025"/>
            <a:ext cx="2531100" cy="12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19"/>
          <p:cNvSpPr txBox="1"/>
          <p:nvPr>
            <p:ph type="subTitle" idx="3"/>
          </p:nvPr>
        </p:nvSpPr>
        <p:spPr>
          <a:xfrm>
            <a:off x="5892953" y="2275026"/>
            <a:ext cx="2531100" cy="12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19"/>
          <p:cNvSpPr txBox="1"/>
          <p:nvPr>
            <p:ph type="subTitle" idx="4"/>
          </p:nvPr>
        </p:nvSpPr>
        <p:spPr>
          <a:xfrm>
            <a:off x="720000" y="1450250"/>
            <a:ext cx="2531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19"/>
          <p:cNvSpPr txBox="1"/>
          <p:nvPr>
            <p:ph type="subTitle" idx="5"/>
          </p:nvPr>
        </p:nvSpPr>
        <p:spPr>
          <a:xfrm>
            <a:off x="3306484" y="1450250"/>
            <a:ext cx="2531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2" name="Google Shape;142;p19"/>
          <p:cNvSpPr txBox="1"/>
          <p:nvPr>
            <p:ph type="subTitle" idx="6"/>
          </p:nvPr>
        </p:nvSpPr>
        <p:spPr>
          <a:xfrm>
            <a:off x="5892959" y="1450250"/>
            <a:ext cx="2531100" cy="8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5" name="Google Shape;145;p20"/>
          <p:cNvSpPr txBox="1"/>
          <p:nvPr>
            <p:ph type="subTitle" idx="1"/>
          </p:nvPr>
        </p:nvSpPr>
        <p:spPr>
          <a:xfrm>
            <a:off x="726701" y="1701834"/>
            <a:ext cx="36495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6" name="Google Shape;146;p20"/>
          <p:cNvSpPr txBox="1"/>
          <p:nvPr>
            <p:ph type="subTitle" idx="2"/>
          </p:nvPr>
        </p:nvSpPr>
        <p:spPr>
          <a:xfrm>
            <a:off x="4781130" y="1701834"/>
            <a:ext cx="36495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7" name="Google Shape;147;p20"/>
          <p:cNvSpPr txBox="1"/>
          <p:nvPr>
            <p:ph type="subTitle" idx="3"/>
          </p:nvPr>
        </p:nvSpPr>
        <p:spPr>
          <a:xfrm>
            <a:off x="726701" y="3390025"/>
            <a:ext cx="36495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20"/>
          <p:cNvSpPr txBox="1"/>
          <p:nvPr>
            <p:ph type="subTitle" idx="4"/>
          </p:nvPr>
        </p:nvSpPr>
        <p:spPr>
          <a:xfrm>
            <a:off x="4781129" y="3390023"/>
            <a:ext cx="3649500" cy="10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49" name="Google Shape;149;p20"/>
          <p:cNvSpPr txBox="1"/>
          <p:nvPr>
            <p:ph type="subTitle" idx="5"/>
          </p:nvPr>
        </p:nvSpPr>
        <p:spPr>
          <a:xfrm>
            <a:off x="726700" y="1321075"/>
            <a:ext cx="364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0" name="Google Shape;150;p20"/>
          <p:cNvSpPr txBox="1"/>
          <p:nvPr>
            <p:ph type="subTitle" idx="6"/>
          </p:nvPr>
        </p:nvSpPr>
        <p:spPr>
          <a:xfrm>
            <a:off x="726700" y="3009341"/>
            <a:ext cx="364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1" name="Google Shape;151;p20"/>
          <p:cNvSpPr txBox="1"/>
          <p:nvPr>
            <p:ph type="subTitle" idx="7"/>
          </p:nvPr>
        </p:nvSpPr>
        <p:spPr>
          <a:xfrm>
            <a:off x="4781096" y="1321075"/>
            <a:ext cx="364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2" name="Google Shape;152;p20"/>
          <p:cNvSpPr txBox="1"/>
          <p:nvPr>
            <p:ph type="subTitle" idx="8"/>
          </p:nvPr>
        </p:nvSpPr>
        <p:spPr>
          <a:xfrm>
            <a:off x="4781097" y="3009334"/>
            <a:ext cx="3649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3" name="Google Shape;153;p20"/>
          <p:cNvSpPr/>
          <p:nvPr/>
        </p:nvSpPr>
        <p:spPr>
          <a:xfrm>
            <a:off x="0" y="0"/>
            <a:ext cx="449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54" name="Google Shape;154;p20"/>
          <p:cNvCxnSpPr/>
          <p:nvPr/>
        </p:nvCxnSpPr>
        <p:spPr>
          <a:xfrm>
            <a:off x="85769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5" name="Google Shape;155;p20"/>
          <p:cNvGrpSpPr/>
          <p:nvPr/>
        </p:nvGrpSpPr>
        <p:grpSpPr>
          <a:xfrm>
            <a:off x="2819875" y="4823675"/>
            <a:ext cx="6333600" cy="0"/>
            <a:chOff x="2220050" y="1547100"/>
            <a:chExt cx="6333600" cy="0"/>
          </a:xfrm>
        </p:grpSpPr>
        <p:cxnSp>
          <p:nvCxnSpPr>
            <p:cNvPr id="156" name="Google Shape;156;p20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7" name="Google Shape;157;p20"/>
            <p:cNvCxnSpPr/>
            <p:nvPr/>
          </p:nvCxnSpPr>
          <p:spPr>
            <a:xfrm>
              <a:off x="2684450" y="1547100"/>
              <a:ext cx="586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" name="Google Shape;160;p21"/>
          <p:cNvSpPr txBox="1"/>
          <p:nvPr>
            <p:ph type="subTitle" idx="1"/>
          </p:nvPr>
        </p:nvSpPr>
        <p:spPr>
          <a:xfrm>
            <a:off x="712900" y="1710154"/>
            <a:ext cx="25059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1" name="Google Shape;161;p21"/>
          <p:cNvSpPr txBox="1"/>
          <p:nvPr>
            <p:ph type="subTitle" idx="2"/>
          </p:nvPr>
        </p:nvSpPr>
        <p:spPr>
          <a:xfrm>
            <a:off x="3262909" y="1710164"/>
            <a:ext cx="26178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2" name="Google Shape;162;p21"/>
          <p:cNvSpPr txBox="1"/>
          <p:nvPr>
            <p:ph type="subTitle" idx="3"/>
          </p:nvPr>
        </p:nvSpPr>
        <p:spPr>
          <a:xfrm>
            <a:off x="712900" y="3539851"/>
            <a:ext cx="25059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3" name="Google Shape;163;p21"/>
          <p:cNvSpPr txBox="1"/>
          <p:nvPr>
            <p:ph type="subTitle" idx="4"/>
          </p:nvPr>
        </p:nvSpPr>
        <p:spPr>
          <a:xfrm>
            <a:off x="3262918" y="3539853"/>
            <a:ext cx="26178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type="subTitle" idx="5"/>
          </p:nvPr>
        </p:nvSpPr>
        <p:spPr>
          <a:xfrm>
            <a:off x="5924954" y="1710160"/>
            <a:ext cx="25059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type="subTitle" idx="6"/>
          </p:nvPr>
        </p:nvSpPr>
        <p:spPr>
          <a:xfrm>
            <a:off x="5924973" y="3539851"/>
            <a:ext cx="25059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21"/>
          <p:cNvSpPr txBox="1"/>
          <p:nvPr>
            <p:ph type="subTitle" idx="7"/>
          </p:nvPr>
        </p:nvSpPr>
        <p:spPr>
          <a:xfrm>
            <a:off x="712900" y="1208575"/>
            <a:ext cx="25059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7" name="Google Shape;167;p21"/>
          <p:cNvSpPr txBox="1"/>
          <p:nvPr>
            <p:ph type="subTitle" idx="8"/>
          </p:nvPr>
        </p:nvSpPr>
        <p:spPr>
          <a:xfrm>
            <a:off x="3262908" y="1208575"/>
            <a:ext cx="26154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8" name="Google Shape;168;p21"/>
          <p:cNvSpPr txBox="1"/>
          <p:nvPr>
            <p:ph type="subTitle" idx="9"/>
          </p:nvPr>
        </p:nvSpPr>
        <p:spPr>
          <a:xfrm>
            <a:off x="5924951" y="1208575"/>
            <a:ext cx="25035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" name="Google Shape;169;p21"/>
          <p:cNvSpPr txBox="1"/>
          <p:nvPr>
            <p:ph type="subTitle" idx="13"/>
          </p:nvPr>
        </p:nvSpPr>
        <p:spPr>
          <a:xfrm>
            <a:off x="712900" y="3040861"/>
            <a:ext cx="25059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21"/>
          <p:cNvSpPr txBox="1"/>
          <p:nvPr>
            <p:ph type="subTitle" idx="14"/>
          </p:nvPr>
        </p:nvSpPr>
        <p:spPr>
          <a:xfrm>
            <a:off x="3262908" y="3040858"/>
            <a:ext cx="26154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1" name="Google Shape;171;p21"/>
          <p:cNvSpPr txBox="1"/>
          <p:nvPr>
            <p:ph type="subTitle" idx="15"/>
          </p:nvPr>
        </p:nvSpPr>
        <p:spPr>
          <a:xfrm>
            <a:off x="5924951" y="3040853"/>
            <a:ext cx="2505900" cy="4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2" name="Google Shape;172;p21"/>
          <p:cNvSpPr/>
          <p:nvPr/>
        </p:nvSpPr>
        <p:spPr>
          <a:xfrm>
            <a:off x="8591250" y="0"/>
            <a:ext cx="5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73" name="Google Shape;173;p21"/>
          <p:cNvCxnSpPr/>
          <p:nvPr/>
        </p:nvCxnSpPr>
        <p:spPr>
          <a:xfrm>
            <a:off x="414894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74" name="Google Shape;174;p21"/>
          <p:cNvGrpSpPr/>
          <p:nvPr/>
        </p:nvGrpSpPr>
        <p:grpSpPr>
          <a:xfrm flipH="1">
            <a:off x="-37375" y="4832600"/>
            <a:ext cx="6198300" cy="0"/>
            <a:chOff x="2220050" y="1547100"/>
            <a:chExt cx="6198300" cy="0"/>
          </a:xfrm>
        </p:grpSpPr>
        <p:cxnSp>
          <p:nvCxnSpPr>
            <p:cNvPr id="175" name="Google Shape;175;p21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Google Shape;176;p21"/>
            <p:cNvCxnSpPr/>
            <p:nvPr/>
          </p:nvCxnSpPr>
          <p:spPr>
            <a:xfrm>
              <a:off x="2684450" y="1547100"/>
              <a:ext cx="573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/>
          <p:nvPr/>
        </p:nvSpPr>
        <p:spPr>
          <a:xfrm>
            <a:off x="6341100" y="0"/>
            <a:ext cx="280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79" name="Google Shape;179;p22"/>
          <p:cNvCxnSpPr/>
          <p:nvPr/>
        </p:nvCxnSpPr>
        <p:spPr>
          <a:xfrm>
            <a:off x="517944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2"/>
          <p:cNvSpPr txBox="1"/>
          <p:nvPr>
            <p:ph type="title"/>
          </p:nvPr>
        </p:nvSpPr>
        <p:spPr>
          <a:xfrm>
            <a:off x="713263" y="5395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1" name="Google Shape;181;p22"/>
          <p:cNvSpPr txBox="1"/>
          <p:nvPr>
            <p:ph type="subTitle" idx="1"/>
          </p:nvPr>
        </p:nvSpPr>
        <p:spPr>
          <a:xfrm>
            <a:off x="713225" y="162857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2"/>
          <p:cNvSpPr txBox="1"/>
          <p:nvPr/>
        </p:nvSpPr>
        <p:spPr>
          <a:xfrm>
            <a:off x="713225" y="3528875"/>
            <a:ext cx="3765000" cy="6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GB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CREDITS:</a:t>
            </a:r>
            <a:r>
              <a:rPr lang="en-GB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This presentation template was created by </a:t>
            </a:r>
            <a:r>
              <a:rPr lang="en-GB" sz="1000" b="1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2"/>
              </a:rPr>
              <a:t>Slidesgo</a:t>
            </a:r>
            <a:r>
              <a:rPr lang="en-GB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and includes icons by </a:t>
            </a:r>
            <a:r>
              <a:rPr lang="en-GB" sz="1000" b="1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3"/>
              </a:rPr>
              <a:t>Flaticon</a:t>
            </a:r>
            <a:r>
              <a:rPr lang="en-GB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, and infographics &amp; images by </a:t>
            </a:r>
            <a:r>
              <a:rPr lang="en-GB" sz="1000" b="1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  <a:hlinkClick r:id="rId4"/>
              </a:rPr>
              <a:t>Freepik</a:t>
            </a:r>
            <a:r>
              <a:rPr lang="en-GB" sz="1000" u="sng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endParaRPr sz="1000" b="1" u="sng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/>
          <p:nvPr/>
        </p:nvSpPr>
        <p:spPr>
          <a:xfrm>
            <a:off x="6501975" y="0"/>
            <a:ext cx="2642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85" name="Google Shape;185;p23"/>
          <p:cNvCxnSpPr/>
          <p:nvPr/>
        </p:nvCxnSpPr>
        <p:spPr>
          <a:xfrm>
            <a:off x="479225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6" name="Google Shape;186;p23"/>
          <p:cNvGrpSpPr/>
          <p:nvPr/>
        </p:nvGrpSpPr>
        <p:grpSpPr>
          <a:xfrm flipH="1">
            <a:off x="-131100" y="313050"/>
            <a:ext cx="6464400" cy="0"/>
            <a:chOff x="2220050" y="1547100"/>
            <a:chExt cx="6464400" cy="0"/>
          </a:xfrm>
        </p:grpSpPr>
        <p:cxnSp>
          <p:nvCxnSpPr>
            <p:cNvPr id="187" name="Google Shape;187;p2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>
              <a:off x="2684450" y="1547100"/>
              <a:ext cx="600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 flipH="1">
            <a:off x="-18775" y="-35700"/>
            <a:ext cx="1368000" cy="517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191" name="Google Shape;191;p24"/>
          <p:cNvCxnSpPr/>
          <p:nvPr/>
        </p:nvCxnSpPr>
        <p:spPr>
          <a:xfrm>
            <a:off x="8430781" y="-35700"/>
            <a:ext cx="0" cy="52149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2" name="Google Shape;192;p24"/>
          <p:cNvGrpSpPr/>
          <p:nvPr/>
        </p:nvGrpSpPr>
        <p:grpSpPr>
          <a:xfrm>
            <a:off x="1798975" y="266225"/>
            <a:ext cx="7429500" cy="0"/>
            <a:chOff x="2220050" y="1547100"/>
            <a:chExt cx="7429500" cy="0"/>
          </a:xfrm>
        </p:grpSpPr>
        <p:cxnSp>
          <p:nvCxnSpPr>
            <p:cNvPr id="193" name="Google Shape;193;p24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4" name="Google Shape;194;p24"/>
            <p:cNvCxnSpPr/>
            <p:nvPr/>
          </p:nvCxnSpPr>
          <p:spPr>
            <a:xfrm>
              <a:off x="2684450" y="1547100"/>
              <a:ext cx="696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 panose="00000500000000000000"/>
              <a:buNone/>
              <a:defRPr sz="28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 panose="00000500000000000000"/>
              <a:buNone/>
              <a:defRPr sz="3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●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 panose="00000500000000000000"/>
              <a:buChar char="○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Poppins" panose="00000500000000000000"/>
              <a:buChar char="■"/>
              <a:defRPr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0.jpeg"/><Relationship Id="rId1" Type="http://schemas.openxmlformats.org/officeDocument/2006/relationships/tags" Target="../tags/tag3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>
            <p:ph type="ctrTitle"/>
          </p:nvPr>
        </p:nvSpPr>
        <p:spPr>
          <a:xfrm>
            <a:off x="1900555" y="1809750"/>
            <a:ext cx="6600825" cy="143129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800" b="1"/>
              <a:t>Fall Detection: </a:t>
            </a:r>
            <a:r>
              <a:rPr lang="en-US" altLang="en-US" sz="3800" b="0"/>
              <a:t>A Review of Recent Research Papers</a:t>
            </a:r>
            <a:endParaRPr lang="en-US" altLang="en-US" sz="3800" b="0"/>
          </a:p>
        </p:txBody>
      </p:sp>
      <p:sp>
        <p:nvSpPr>
          <p:cNvPr id="206" name="Google Shape;206;p28"/>
          <p:cNvSpPr txBox="1"/>
          <p:nvPr>
            <p:ph type="subTitle" idx="1"/>
          </p:nvPr>
        </p:nvSpPr>
        <p:spPr>
          <a:xfrm>
            <a:off x="2080895" y="4402455"/>
            <a:ext cx="6350000" cy="38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Abbos Aliboev</a:t>
            </a:r>
            <a:endParaRPr lang="en-US" altLang="en-GB"/>
          </a:p>
        </p:txBody>
      </p:sp>
      <p:grpSp>
        <p:nvGrpSpPr>
          <p:cNvPr id="207" name="Google Shape;207;p28"/>
          <p:cNvGrpSpPr/>
          <p:nvPr/>
        </p:nvGrpSpPr>
        <p:grpSpPr>
          <a:xfrm>
            <a:off x="2220050" y="1547100"/>
            <a:ext cx="7055100" cy="0"/>
            <a:chOff x="2220050" y="1547100"/>
            <a:chExt cx="7055100" cy="0"/>
          </a:xfrm>
        </p:grpSpPr>
        <p:cxnSp>
          <p:nvCxnSpPr>
            <p:cNvPr id="208" name="Google Shape;208;p2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28"/>
            <p:cNvCxnSpPr/>
            <p:nvPr/>
          </p:nvCxnSpPr>
          <p:spPr>
            <a:xfrm>
              <a:off x="2684450" y="1547100"/>
              <a:ext cx="6590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" name="Text Box 0"/>
          <p:cNvSpPr txBox="1"/>
          <p:nvPr/>
        </p:nvSpPr>
        <p:spPr>
          <a:xfrm>
            <a:off x="1188720" y="1624330"/>
            <a:ext cx="3048000" cy="311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/>
          </a:p>
        </p:txBody>
      </p:sp>
      <p:pic>
        <p:nvPicPr>
          <p:cNvPr id="2" name="Picture 1" descr="41. 심볼마크 시그니처_좌우조합_국영문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5055" y="4402455"/>
            <a:ext cx="1005840" cy="3321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224" name="Google Shape;224;p30"/>
          <p:cNvSpPr txBox="1"/>
          <p:nvPr>
            <p:ph type="title" idx="2"/>
          </p:nvPr>
        </p:nvSpPr>
        <p:spPr>
          <a:xfrm>
            <a:off x="720000" y="1579950"/>
            <a:ext cx="765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225" name="Google Shape;225;p30"/>
          <p:cNvSpPr txBox="1"/>
          <p:nvPr>
            <p:ph type="title" idx="3"/>
          </p:nvPr>
        </p:nvSpPr>
        <p:spPr>
          <a:xfrm>
            <a:off x="720000" y="2914288"/>
            <a:ext cx="765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226" name="Google Shape;226;p30"/>
          <p:cNvSpPr txBox="1"/>
          <p:nvPr>
            <p:ph type="title" idx="4"/>
          </p:nvPr>
        </p:nvSpPr>
        <p:spPr>
          <a:xfrm>
            <a:off x="3371772" y="1579950"/>
            <a:ext cx="765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228" name="Google Shape;228;p30"/>
          <p:cNvSpPr txBox="1"/>
          <p:nvPr>
            <p:ph type="title" idx="6"/>
          </p:nvPr>
        </p:nvSpPr>
        <p:spPr>
          <a:xfrm>
            <a:off x="6023544" y="1579950"/>
            <a:ext cx="765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229" name="Google Shape;229;p30"/>
          <p:cNvSpPr txBox="1"/>
          <p:nvPr>
            <p:ph type="title" idx="7"/>
          </p:nvPr>
        </p:nvSpPr>
        <p:spPr>
          <a:xfrm>
            <a:off x="3371784" y="2914288"/>
            <a:ext cx="765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5</a:t>
            </a:r>
            <a:endParaRPr lang="en-US" altLang="en-GB"/>
          </a:p>
        </p:txBody>
      </p:sp>
      <p:sp>
        <p:nvSpPr>
          <p:cNvPr id="230" name="Google Shape;230;p30"/>
          <p:cNvSpPr txBox="1"/>
          <p:nvPr>
            <p:ph type="subTitle" idx="1"/>
          </p:nvPr>
        </p:nvSpPr>
        <p:spPr>
          <a:xfrm>
            <a:off x="720000" y="1978648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</a:t>
            </a:r>
            <a:endParaRPr lang="en-GB"/>
          </a:p>
        </p:txBody>
      </p:sp>
      <p:sp>
        <p:nvSpPr>
          <p:cNvPr id="231" name="Google Shape;231;p30"/>
          <p:cNvSpPr txBox="1"/>
          <p:nvPr>
            <p:ph type="subTitle" idx="8"/>
          </p:nvPr>
        </p:nvSpPr>
        <p:spPr>
          <a:xfrm>
            <a:off x="3371774" y="1978648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Paper 1</a:t>
            </a:r>
            <a:endParaRPr lang="en-US" altLang="en-GB"/>
          </a:p>
        </p:txBody>
      </p:sp>
      <p:sp>
        <p:nvSpPr>
          <p:cNvPr id="232" name="Google Shape;232;p30"/>
          <p:cNvSpPr txBox="1"/>
          <p:nvPr>
            <p:ph type="subTitle" idx="9"/>
          </p:nvPr>
        </p:nvSpPr>
        <p:spPr>
          <a:xfrm>
            <a:off x="6023548" y="1978648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ym typeface="+mn-ea"/>
              </a:rPr>
              <a:t>Paper 2</a:t>
            </a:r>
            <a:endParaRPr lang="en-US" altLang="en-GB"/>
          </a:p>
        </p:txBody>
      </p:sp>
      <p:sp>
        <p:nvSpPr>
          <p:cNvPr id="233" name="Google Shape;233;p30"/>
          <p:cNvSpPr txBox="1"/>
          <p:nvPr>
            <p:ph type="subTitle" idx="13"/>
          </p:nvPr>
        </p:nvSpPr>
        <p:spPr>
          <a:xfrm>
            <a:off x="720000" y="3313049"/>
            <a:ext cx="2400600" cy="5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ym typeface="+mn-ea"/>
              </a:rPr>
              <a:t>Paper 3</a:t>
            </a:r>
            <a:endParaRPr lang="en-US" altLang="en-GB"/>
          </a:p>
        </p:txBody>
      </p:sp>
      <p:sp>
        <p:nvSpPr>
          <p:cNvPr id="235" name="Google Shape;235;p30"/>
          <p:cNvSpPr txBox="1"/>
          <p:nvPr>
            <p:ph type="subTitle" idx="15"/>
          </p:nvPr>
        </p:nvSpPr>
        <p:spPr>
          <a:xfrm>
            <a:off x="3371850" y="3312795"/>
            <a:ext cx="2956560" cy="5162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>
                <a:sym typeface="+mn-ea"/>
              </a:rPr>
              <a:t>Conclusion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Introduction</a:t>
            </a:r>
            <a:endParaRPr lang="en-US" altLang="en-GB"/>
          </a:p>
        </p:txBody>
      </p:sp>
      <p:grpSp>
        <p:nvGrpSpPr>
          <p:cNvPr id="253" name="Google Shape;253;p32"/>
          <p:cNvGrpSpPr/>
          <p:nvPr/>
        </p:nvGrpSpPr>
        <p:grpSpPr>
          <a:xfrm>
            <a:off x="1253755" y="4783340"/>
            <a:ext cx="7890000" cy="0"/>
            <a:chOff x="2220050" y="1547100"/>
            <a:chExt cx="7890000" cy="0"/>
          </a:xfrm>
        </p:grpSpPr>
        <p:cxnSp>
          <p:nvCxnSpPr>
            <p:cNvPr id="254" name="Google Shape;254;p32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32"/>
            <p:cNvCxnSpPr/>
            <p:nvPr/>
          </p:nvCxnSpPr>
          <p:spPr>
            <a:xfrm>
              <a:off x="2684450" y="1547100"/>
              <a:ext cx="742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3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0610" y="1054735"/>
            <a:ext cx="4953635" cy="3400425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2"/>
          <a:srcRect l="9938" t="17770" r="2792" b="10525"/>
          <a:stretch>
            <a:fillRect/>
          </a:stretch>
        </p:blipFill>
        <p:spPr>
          <a:xfrm>
            <a:off x="706755" y="1339850"/>
            <a:ext cx="2660015" cy="1457960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3"/>
          <a:srcRect t="8393" b="8610"/>
          <a:stretch>
            <a:fillRect/>
          </a:stretch>
        </p:blipFill>
        <p:spPr>
          <a:xfrm>
            <a:off x="706755" y="2852420"/>
            <a:ext cx="2646680" cy="1463040"/>
          </a:xfrm>
          <a:prstGeom prst="rect">
            <a:avLst/>
          </a:prstGeom>
        </p:spPr>
      </p:pic>
      <p:sp>
        <p:nvSpPr>
          <p:cNvPr id="16" name="Rectangles 15"/>
          <p:cNvSpPr/>
          <p:nvPr/>
        </p:nvSpPr>
        <p:spPr>
          <a:xfrm>
            <a:off x="655955" y="1294765"/>
            <a:ext cx="2760345" cy="3086100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Simple Vision Based Example</a:t>
            </a:r>
            <a:endParaRPr lang="en-US" altLang="en-GB"/>
          </a:p>
        </p:txBody>
      </p:sp>
      <p:grpSp>
        <p:nvGrpSpPr>
          <p:cNvPr id="253" name="Google Shape;253;p32"/>
          <p:cNvGrpSpPr/>
          <p:nvPr/>
        </p:nvGrpSpPr>
        <p:grpSpPr>
          <a:xfrm>
            <a:off x="1375675" y="4387100"/>
            <a:ext cx="7890000" cy="0"/>
            <a:chOff x="2220050" y="1547100"/>
            <a:chExt cx="7890000" cy="0"/>
          </a:xfrm>
        </p:grpSpPr>
        <p:cxnSp>
          <p:nvCxnSpPr>
            <p:cNvPr id="254" name="Google Shape;254;p32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32"/>
            <p:cNvCxnSpPr/>
            <p:nvPr/>
          </p:nvCxnSpPr>
          <p:spPr>
            <a:xfrm>
              <a:off x="2684450" y="1547100"/>
              <a:ext cx="742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8" name="Picture 7"/>
          <p:cNvPicPr/>
          <p:nvPr/>
        </p:nvPicPr>
        <p:blipFill>
          <a:blip r:embed="rId1"/>
          <a:stretch>
            <a:fillRect/>
          </a:stretch>
        </p:blipFill>
        <p:spPr>
          <a:xfrm>
            <a:off x="754380" y="1572260"/>
            <a:ext cx="7710170" cy="20993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1500200" y="2699650"/>
            <a:ext cx="3362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Paper</a:t>
            </a:r>
            <a:endParaRPr lang="en-US" altLang="en-GB"/>
          </a:p>
        </p:txBody>
      </p:sp>
      <p:sp>
        <p:nvSpPr>
          <p:cNvPr id="261" name="Google Shape;261;p33"/>
          <p:cNvSpPr txBox="1"/>
          <p:nvPr>
            <p:ph type="title" idx="2"/>
          </p:nvPr>
        </p:nvSpPr>
        <p:spPr>
          <a:xfrm>
            <a:off x="1500200" y="1602050"/>
            <a:ext cx="1288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1</a:t>
            </a:r>
            <a:endParaRPr lang="en-US" altLang="en-GB"/>
          </a:p>
        </p:txBody>
      </p:sp>
      <p:grpSp>
        <p:nvGrpSpPr>
          <p:cNvPr id="262" name="Google Shape;262;p33"/>
          <p:cNvGrpSpPr/>
          <p:nvPr/>
        </p:nvGrpSpPr>
        <p:grpSpPr>
          <a:xfrm flipH="1">
            <a:off x="-93625" y="2521475"/>
            <a:ext cx="4993500" cy="0"/>
            <a:chOff x="2220050" y="1547100"/>
            <a:chExt cx="4993500" cy="0"/>
          </a:xfrm>
        </p:grpSpPr>
        <p:cxnSp>
          <p:nvCxnSpPr>
            <p:cNvPr id="263" name="Google Shape;263;p3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33"/>
            <p:cNvCxnSpPr/>
            <p:nvPr/>
          </p:nvCxnSpPr>
          <p:spPr>
            <a:xfrm>
              <a:off x="2684450" y="1547100"/>
              <a:ext cx="452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/>
              <a:t>Fall-</a:t>
            </a:r>
            <a:r>
              <a:rPr lang="en-US" altLang="en-US" sz="2000"/>
              <a:t>portent detection for construction sites based on computer vision and machine learning.</a:t>
            </a:r>
            <a:endParaRPr lang="en-GB" sz="2000"/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1345565"/>
            <a:ext cx="6661150" cy="1116330"/>
          </a:xfrm>
          <a:prstGeom prst="rect">
            <a:avLst/>
          </a:prstGeom>
        </p:spPr>
      </p:pic>
      <p:sp>
        <p:nvSpPr>
          <p:cNvPr id="4" name="Google Shape;274;p34"/>
          <p:cNvSpPr txBox="1"/>
          <p:nvPr/>
        </p:nvSpPr>
        <p:spPr>
          <a:xfrm>
            <a:off x="827405" y="2834640"/>
            <a:ext cx="3608070" cy="413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Problems:</a:t>
            </a:r>
            <a:endParaRPr lang="en-US" altLang="en-GB" sz="2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Google Shape;276;p34"/>
          <p:cNvSpPr txBox="1"/>
          <p:nvPr/>
        </p:nvSpPr>
        <p:spPr>
          <a:xfrm>
            <a:off x="775335" y="3248025"/>
            <a:ext cx="3115310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Falls are common and dangerous 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at construction sites.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Prior works: binary classification 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(fall / no-fall), often sensor-based.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" name="Google Shape;274;p34"/>
          <p:cNvSpPr txBox="1"/>
          <p:nvPr/>
        </p:nvSpPr>
        <p:spPr>
          <a:xfrm>
            <a:off x="4712970" y="2788920"/>
            <a:ext cx="3608070" cy="413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Main Idea:</a:t>
            </a:r>
            <a:endParaRPr lang="en-US" altLang="en-GB" sz="2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" name="Google Shape;276;p34"/>
          <p:cNvSpPr txBox="1"/>
          <p:nvPr/>
        </p:nvSpPr>
        <p:spPr>
          <a:xfrm>
            <a:off x="4920615" y="3485515"/>
            <a:ext cx="3115310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US" altLang="en-US" sz="12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Steady</a:t>
            </a: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standing normally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US" altLang="en-US" sz="12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Unsteady</a:t>
            </a: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balance lost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US" altLang="en-US" sz="12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Fallen</a:t>
            </a: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– fall occurred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" name="Google Shape;278;p34"/>
          <p:cNvSpPr txBox="1"/>
          <p:nvPr/>
        </p:nvSpPr>
        <p:spPr>
          <a:xfrm>
            <a:off x="4754880" y="3202305"/>
            <a:ext cx="3400425" cy="2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3-stage  fall detection model</a:t>
            </a:r>
            <a:endParaRPr lang="en-US" altLang="en-US" sz="12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2501265" y="4838700"/>
            <a:ext cx="482790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000">
                <a:solidFill>
                  <a:srgbClr val="002060"/>
                </a:solidFill>
              </a:rPr>
              <a:t>https://www.emerald.com/insight/content/doi/10.1108/ecam-05-2023-0458/full/html</a:t>
            </a:r>
            <a:endParaRPr lang="en-US" altLang="en-US" sz="1000">
              <a:solidFill>
                <a:srgbClr val="002060"/>
              </a:solidFill>
            </a:endParaRPr>
          </a:p>
        </p:txBody>
      </p:sp>
      <p:pic>
        <p:nvPicPr>
          <p:cNvPr id="14" name="Picture 13"/>
          <p:cNvPicPr/>
          <p:nvPr/>
        </p:nvPicPr>
        <p:blipFill>
          <a:blip r:embed="rId2"/>
          <a:srcRect l="8807" t="25596" r="8290" b="28111"/>
          <a:stretch>
            <a:fillRect/>
          </a:stretch>
        </p:blipFill>
        <p:spPr>
          <a:xfrm>
            <a:off x="6186170" y="2068195"/>
            <a:ext cx="1027430" cy="366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645160" y="351155"/>
            <a:ext cx="2974975" cy="61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Method Details</a:t>
            </a:r>
            <a:endParaRPr lang="en-US" altLang="en-GB"/>
          </a:p>
        </p:txBody>
      </p:sp>
      <p:grpSp>
        <p:nvGrpSpPr>
          <p:cNvPr id="321" name="Google Shape;321;p37"/>
          <p:cNvGrpSpPr/>
          <p:nvPr/>
        </p:nvGrpSpPr>
        <p:grpSpPr>
          <a:xfrm flipH="1">
            <a:off x="25" y="198687"/>
            <a:ext cx="8648675" cy="0"/>
            <a:chOff x="1000850" y="1547100"/>
            <a:chExt cx="8648675" cy="0"/>
          </a:xfrm>
        </p:grpSpPr>
        <p:cxnSp>
          <p:nvCxnSpPr>
            <p:cNvPr id="322" name="Google Shape;322;p37"/>
            <p:cNvCxnSpPr/>
            <p:nvPr/>
          </p:nvCxnSpPr>
          <p:spPr>
            <a:xfrm>
              <a:off x="10008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7"/>
            <p:cNvCxnSpPr/>
            <p:nvPr/>
          </p:nvCxnSpPr>
          <p:spPr>
            <a:xfrm>
              <a:off x="1442425" y="1547100"/>
              <a:ext cx="820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4951"/>
          <a:stretch>
            <a:fillRect/>
          </a:stretch>
        </p:blipFill>
        <p:spPr>
          <a:xfrm>
            <a:off x="1316355" y="1134110"/>
            <a:ext cx="6511290" cy="3291205"/>
          </a:xfrm>
          <a:prstGeom prst="rect">
            <a:avLst/>
          </a:prstGeom>
        </p:spPr>
      </p:pic>
      <p:sp>
        <p:nvSpPr>
          <p:cNvPr id="12" name="Google Shape;278;p34"/>
          <p:cNvSpPr txBox="1"/>
          <p:nvPr/>
        </p:nvSpPr>
        <p:spPr>
          <a:xfrm>
            <a:off x="645160" y="4699635"/>
            <a:ext cx="7924800" cy="4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Video</a:t>
            </a:r>
            <a:r>
              <a:rPr lang="en-US" altLang="en-US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→ 3D Pose Estimation (VideoPose3D) → </a:t>
            </a:r>
            <a:r>
              <a:rPr lang="en-US" altLang="en-US" sz="1000" b="1">
                <a:solidFill>
                  <a:schemeClr val="tx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Feature Selection (PCA + K-means)</a:t>
            </a:r>
            <a:r>
              <a:rPr lang="en-US" altLang="en-US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→ Fusion-KNN → </a:t>
            </a:r>
            <a:r>
              <a:rPr lang="en-US" altLang="en-US" sz="1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3-Class Prediction</a:t>
            </a:r>
            <a:endParaRPr lang="en-US" altLang="en-US" sz="1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57250" y="876300"/>
            <a:ext cx="285686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Architecture of the methodology</a:t>
            </a: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cxnSp>
        <p:nvCxnSpPr>
          <p:cNvPr id="11" name="Google Shape;323;p37"/>
          <p:cNvCxnSpPr/>
          <p:nvPr/>
        </p:nvCxnSpPr>
        <p:spPr>
          <a:xfrm flipH="1">
            <a:off x="409575" y="4737735"/>
            <a:ext cx="8538210" cy="15240"/>
          </a:xfrm>
          <a:prstGeom prst="straightConnector1">
            <a:avLst/>
          </a:prstGeom>
          <a:noFill/>
          <a:ln w="9525" cap="flat" cmpd="sng">
            <a:solidFill>
              <a:schemeClr val="dk1">
                <a:alpha val="32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Step-by-Step Pipeline Explanation</a:t>
            </a:r>
            <a:endParaRPr lang="en-US" altLang="en-US"/>
          </a:p>
        </p:txBody>
      </p:sp>
      <p:graphicFrame>
        <p:nvGraphicFramePr>
          <p:cNvPr id="215" name="Google Shape;215;p29"/>
          <p:cNvGraphicFramePr/>
          <p:nvPr>
            <p:custDataLst>
              <p:tags r:id="rId1"/>
            </p:custDataLst>
          </p:nvPr>
        </p:nvGraphicFramePr>
        <p:xfrm>
          <a:off x="720090" y="1119505"/>
          <a:ext cx="7390130" cy="2027555"/>
        </p:xfrm>
        <a:graphic>
          <a:graphicData uri="http://schemas.openxmlformats.org/drawingml/2006/table">
            <a:tbl>
              <a:tblPr>
                <a:noFill/>
                <a:tableStyleId>{C7A47DB2-CF74-43BB-A3BB-4E7B9E0F4469}</a:tableStyleId>
              </a:tblPr>
              <a:tblGrid>
                <a:gridCol w="2324735"/>
                <a:gridCol w="5065395"/>
              </a:tblGrid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VideoPose3D</a:t>
                      </a:r>
                      <a:endParaRPr lang="en-US" altLang="en-US" sz="1000" b="1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Converts each video frame into 17 keypoint 3D skeleton data (x, y, z)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PCA - </a:t>
                      </a:r>
                      <a:r>
                        <a:rPr lang="en-US" altLang="en-US" sz="800" b="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Principal Component Analysis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PCA removes redundant and less relevant keypoints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K means -</a:t>
                      </a:r>
                      <a:r>
                        <a:rPr lang="en-US" altLang="en-US" sz="800" b="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 Clustering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K-means helps identify the most influential joints (e.g., hips, knees)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Fusion KNN - </a:t>
                      </a:r>
                      <a:r>
                        <a:rPr lang="en-US" altLang="en-US" sz="800" b="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k Nearest Neighbors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Computes weighted distances (x/y/z) → emphasizes z-axis                    Classifies state as: Steady / Unsteady / Fallen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Post-processing:</a:t>
                      </a:r>
                      <a:endParaRPr lang="en-US" altLang="en-US" sz="1000" b="1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Reclassifies short unsteady frames (&lt; 6) as steady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→ Reduces false alarms, improves stability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1" name="Picture 0"/>
          <p:cNvPicPr>
            <a:picLocks noChangeAspect="1"/>
          </p:cNvPicPr>
          <p:nvPr/>
        </p:nvPicPr>
        <p:blipFill>
          <a:blip r:embed="rId2"/>
          <a:srcRect l="3525" r="26859" b="55540"/>
          <a:stretch>
            <a:fillRect/>
          </a:stretch>
        </p:blipFill>
        <p:spPr>
          <a:xfrm>
            <a:off x="2764155" y="3223895"/>
            <a:ext cx="2279015" cy="148653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990" y="3248660"/>
            <a:ext cx="1856740" cy="13817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20" y="3248660"/>
            <a:ext cx="1452880" cy="139954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837565" y="4648200"/>
            <a:ext cx="153987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Serial numbers of 17 joints</a:t>
            </a:r>
            <a:endParaRPr lang="en-US" altLang="en-GB"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764155" y="4648200"/>
            <a:ext cx="245618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 sz="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Visualization of banana trip by PCA</a:t>
            </a:r>
            <a:endParaRPr lang="en-US" altLang="en-GB"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607050" y="4630420"/>
            <a:ext cx="242125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Experimantal Results of K-means clustering</a:t>
            </a:r>
            <a:endParaRPr lang="en-US" altLang="en-GB"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485140" y="274320"/>
            <a:ext cx="2974975" cy="61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Dataset Details</a:t>
            </a:r>
            <a:endParaRPr lang="en-US" altLang="en-GB"/>
          </a:p>
        </p:txBody>
      </p:sp>
      <p:grpSp>
        <p:nvGrpSpPr>
          <p:cNvPr id="321" name="Google Shape;321;p37"/>
          <p:cNvGrpSpPr/>
          <p:nvPr/>
        </p:nvGrpSpPr>
        <p:grpSpPr>
          <a:xfrm flipH="1">
            <a:off x="25" y="198687"/>
            <a:ext cx="8648675" cy="0"/>
            <a:chOff x="1000850" y="1547100"/>
            <a:chExt cx="8648675" cy="0"/>
          </a:xfrm>
        </p:grpSpPr>
        <p:cxnSp>
          <p:nvCxnSpPr>
            <p:cNvPr id="322" name="Google Shape;322;p37"/>
            <p:cNvCxnSpPr/>
            <p:nvPr/>
          </p:nvCxnSpPr>
          <p:spPr>
            <a:xfrm>
              <a:off x="10008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7"/>
            <p:cNvCxnSpPr/>
            <p:nvPr/>
          </p:nvCxnSpPr>
          <p:spPr>
            <a:xfrm>
              <a:off x="1442425" y="1547100"/>
              <a:ext cx="820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278;p34"/>
          <p:cNvSpPr txBox="1"/>
          <p:nvPr/>
        </p:nvSpPr>
        <p:spPr>
          <a:xfrm>
            <a:off x="586105" y="930910"/>
            <a:ext cx="2324100" cy="328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Samples of workers three states</a:t>
            </a:r>
            <a:endParaRPr lang="en-US" altLang="en-US" sz="1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rcRect t="2357"/>
          <a:stretch>
            <a:fillRect/>
          </a:stretch>
        </p:blipFill>
        <p:spPr>
          <a:xfrm>
            <a:off x="515620" y="1184275"/>
            <a:ext cx="4761230" cy="2605405"/>
          </a:xfrm>
          <a:prstGeom prst="rect">
            <a:avLst/>
          </a:prstGeom>
        </p:spPr>
      </p:pic>
      <p:sp>
        <p:nvSpPr>
          <p:cNvPr id="5" name="Google Shape;276;p34"/>
          <p:cNvSpPr txBox="1"/>
          <p:nvPr/>
        </p:nvSpPr>
        <p:spPr>
          <a:xfrm>
            <a:off x="5276850" y="1010285"/>
            <a:ext cx="3372485" cy="2379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endParaRPr lang="en-US" altLang="en-US"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r>
              <a:rPr lang="en-US" altLang="en-US" sz="2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Class balance:</a:t>
            </a:r>
            <a:endParaRPr lang="en-US" altLang="en-US" sz="2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6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Steady: </a:t>
            </a:r>
            <a:r>
              <a:rPr lang="en-US" altLang="en-US" sz="16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688 </a:t>
            </a:r>
            <a:r>
              <a:rPr lang="en-US" altLang="en-US" sz="16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frames</a:t>
            </a:r>
            <a:endParaRPr lang="en-US" altLang="en-US"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6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Unsteady: </a:t>
            </a:r>
            <a:r>
              <a:rPr lang="en-US" altLang="en-US" sz="16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400 </a:t>
            </a:r>
            <a:r>
              <a:rPr lang="en-US" altLang="en-US" sz="16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frames</a:t>
            </a:r>
            <a:endParaRPr lang="en-US" altLang="en-US"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6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Fallen: </a:t>
            </a:r>
            <a:r>
              <a:rPr lang="en-US" altLang="en-US" sz="16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600 </a:t>
            </a:r>
            <a:r>
              <a:rPr lang="en-US" altLang="en-US" sz="16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frames</a:t>
            </a:r>
            <a:endParaRPr lang="en-US" altLang="en-US" sz="16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86105" y="3898265"/>
            <a:ext cx="4572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Total frames: </a:t>
            </a:r>
            <a:r>
              <a:rPr lang="en-US" altLang="en-US" sz="12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1688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 type: 3D skeleton keypoints 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None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Collected from: Simulated fall scenarios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type="title"/>
          </p:nvPr>
        </p:nvSpPr>
        <p:spPr>
          <a:xfrm>
            <a:off x="713250" y="445025"/>
            <a:ext cx="463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Results</a:t>
            </a:r>
            <a:endParaRPr lang="en-US" altLang="en-GB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575" y="1303020"/>
            <a:ext cx="4537710" cy="2482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r="2003"/>
          <a:stretch>
            <a:fillRect/>
          </a:stretch>
        </p:blipFill>
        <p:spPr>
          <a:xfrm>
            <a:off x="5156200" y="748665"/>
            <a:ext cx="3571875" cy="3766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/>
          <p:nvPr>
            <p:ph type="title"/>
          </p:nvPr>
        </p:nvSpPr>
        <p:spPr>
          <a:xfrm>
            <a:off x="1306830" y="316865"/>
            <a:ext cx="5490210" cy="6286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Strengths &amp; Limitations</a:t>
            </a:r>
            <a:endParaRPr lang="en-US" altLang="en-GB"/>
          </a:p>
        </p:txBody>
      </p:sp>
      <p:grpSp>
        <p:nvGrpSpPr>
          <p:cNvPr id="332" name="Google Shape;332;p38"/>
          <p:cNvGrpSpPr/>
          <p:nvPr/>
        </p:nvGrpSpPr>
        <p:grpSpPr>
          <a:xfrm>
            <a:off x="1377525" y="4873025"/>
            <a:ext cx="8169300" cy="0"/>
            <a:chOff x="2220050" y="1547100"/>
            <a:chExt cx="8169300" cy="0"/>
          </a:xfrm>
        </p:grpSpPr>
        <p:cxnSp>
          <p:nvCxnSpPr>
            <p:cNvPr id="333" name="Google Shape;333;p3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38"/>
            <p:cNvCxnSpPr/>
            <p:nvPr/>
          </p:nvCxnSpPr>
          <p:spPr>
            <a:xfrm>
              <a:off x="2684450" y="1547100"/>
              <a:ext cx="770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409" name="Google Shape;409;p44"/>
          <p:cNvGraphicFramePr/>
          <p:nvPr/>
        </p:nvGraphicFramePr>
        <p:xfrm>
          <a:off x="1465008" y="1361000"/>
          <a:ext cx="6866890" cy="2838450"/>
        </p:xfrm>
        <a:graphic>
          <a:graphicData uri="http://schemas.openxmlformats.org/drawingml/2006/table">
            <a:tbl>
              <a:tblPr>
                <a:noFill/>
                <a:tableStyleId>{585264E0-3481-454F-AFA1-BE3EFBD138C5}</a:tableStyleId>
              </a:tblPr>
              <a:tblGrid>
                <a:gridCol w="3677920"/>
                <a:gridCol w="3188970"/>
              </a:tblGrid>
              <a:tr h="46412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b="1">
                          <a:solidFill>
                            <a:srgbClr val="00B05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Strengths</a:t>
                      </a:r>
                      <a:endParaRPr lang="en-US" altLang="en-GB" b="1">
                        <a:solidFill>
                          <a:srgbClr val="00B050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b="1">
                          <a:solidFill>
                            <a:srgbClr val="FF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Limitations</a:t>
                      </a:r>
                      <a:endParaRPr lang="en-US" altLang="en-GB" b="1">
                        <a:solidFill>
                          <a:srgbClr val="FF0000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3-class detection (Steady, Unsteady, Fallen)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Only 3.125 FPS (not real-time)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No sensors required – only camera input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Small, simulated dataset (1688 frames)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Simple, interpretable Fusion-KNN model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No real-world or multi-person testing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Emphasis on z-axis improves fall recognition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Not tested on real-world construction sites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0220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Post-processing reduces false alarms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No deep learning or end-to-end training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1500200" y="2699650"/>
            <a:ext cx="3362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Paper</a:t>
            </a:r>
            <a:endParaRPr lang="en-US" altLang="en-GB"/>
          </a:p>
        </p:txBody>
      </p:sp>
      <p:sp>
        <p:nvSpPr>
          <p:cNvPr id="261" name="Google Shape;261;p33"/>
          <p:cNvSpPr txBox="1"/>
          <p:nvPr>
            <p:ph type="title" idx="2"/>
          </p:nvPr>
        </p:nvSpPr>
        <p:spPr>
          <a:xfrm>
            <a:off x="1500200" y="1602050"/>
            <a:ext cx="1288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2</a:t>
            </a:r>
            <a:endParaRPr lang="en-US" altLang="en-GB"/>
          </a:p>
        </p:txBody>
      </p:sp>
      <p:grpSp>
        <p:nvGrpSpPr>
          <p:cNvPr id="262" name="Google Shape;262;p33"/>
          <p:cNvGrpSpPr/>
          <p:nvPr/>
        </p:nvGrpSpPr>
        <p:grpSpPr>
          <a:xfrm flipH="1">
            <a:off x="-93625" y="2521475"/>
            <a:ext cx="4993500" cy="0"/>
            <a:chOff x="2220050" y="1547100"/>
            <a:chExt cx="4993500" cy="0"/>
          </a:xfrm>
        </p:grpSpPr>
        <p:cxnSp>
          <p:nvCxnSpPr>
            <p:cNvPr id="263" name="Google Shape;263;p3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33"/>
            <p:cNvCxnSpPr/>
            <p:nvPr/>
          </p:nvCxnSpPr>
          <p:spPr>
            <a:xfrm>
              <a:off x="2684450" y="1547100"/>
              <a:ext cx="452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/>
              <a:t>A Real-time skeleton-based fall detection algorithm based on temporal convolutional networks and transformer encoder</a:t>
            </a:r>
            <a:endParaRPr lang="en-US" altLang="en-US" sz="2000"/>
          </a:p>
        </p:txBody>
      </p:sp>
      <p:sp>
        <p:nvSpPr>
          <p:cNvPr id="4" name="Google Shape;274;p34"/>
          <p:cNvSpPr txBox="1"/>
          <p:nvPr/>
        </p:nvSpPr>
        <p:spPr>
          <a:xfrm>
            <a:off x="827405" y="2834640"/>
            <a:ext cx="3608070" cy="413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Problems:</a:t>
            </a:r>
            <a:endParaRPr lang="en-US" altLang="en-GB" sz="2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Google Shape;276;p34"/>
          <p:cNvSpPr txBox="1"/>
          <p:nvPr/>
        </p:nvSpPr>
        <p:spPr>
          <a:xfrm>
            <a:off x="775335" y="3248025"/>
            <a:ext cx="3450590" cy="142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Occlusions (partially hidden bodies)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Multiple people in the same frame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Low performance on edge devices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Imbalanced data (fewer fall samples)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" name="Google Shape;274;p34"/>
          <p:cNvSpPr txBox="1"/>
          <p:nvPr/>
        </p:nvSpPr>
        <p:spPr>
          <a:xfrm>
            <a:off x="4712970" y="2880360"/>
            <a:ext cx="3608070" cy="413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Main Idea:</a:t>
            </a:r>
            <a:endParaRPr lang="en-US" altLang="en-GB" sz="2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" name="Google Shape;276;p34"/>
          <p:cNvSpPr txBox="1"/>
          <p:nvPr/>
        </p:nvSpPr>
        <p:spPr>
          <a:xfrm>
            <a:off x="4920615" y="3576955"/>
            <a:ext cx="3115310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Pose sequences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TCN + Transformer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Real-time edge deployment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" name="Google Shape;278;p34"/>
          <p:cNvSpPr txBox="1"/>
          <p:nvPr/>
        </p:nvSpPr>
        <p:spPr>
          <a:xfrm>
            <a:off x="4754880" y="3293745"/>
            <a:ext cx="3883660" cy="2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2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Skeleton-based Fall / Non-Fall detection using:</a:t>
            </a:r>
            <a:endParaRPr lang="en-US" altLang="en-US" sz="12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2501265" y="4838700"/>
            <a:ext cx="482790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000">
                <a:solidFill>
                  <a:srgbClr val="002060"/>
                </a:solidFill>
              </a:rPr>
              <a:t>https://doi.org/10.1016/j.pmcj.2025.102016</a:t>
            </a:r>
            <a:endParaRPr lang="en-US" altLang="en-US" sz="1000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898525" y="1527175"/>
            <a:ext cx="782320" cy="751840"/>
          </a:xfrm>
          <a:prstGeom prst="rect">
            <a:avLst/>
          </a:prstGeom>
        </p:spPr>
      </p:pic>
      <p:sp>
        <p:nvSpPr>
          <p:cNvPr id="298" name="Google Shape;298;p35"/>
          <p:cNvSpPr txBox="1"/>
          <p:nvPr>
            <p:ph type="subTitle" idx="1"/>
          </p:nvPr>
        </p:nvSpPr>
        <p:spPr>
          <a:xfrm>
            <a:off x="1771015" y="1426845"/>
            <a:ext cx="6952615" cy="13315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00"/>
              <a:t>Xiaoqun Yu, Chenfeng Wang, Wenyu Wu, Shuping Xiong</a:t>
            </a: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00"/>
              <a:t>a. Department of Mechanical and Industrial Design, School of Mechanical Engineering, Southeast University, Nanjing 211189, PR China</a:t>
            </a: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00"/>
              <a:t>b. Department of Industrial and Systems Engineering, Korea Advanced Institute of Science and Technology (KAIST), Daejeon 34141, Republic of Korea</a:t>
            </a: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00"/>
              <a:t>Received 9 August 2024, Revised 12 January 2025, Accepted 20 January 2025, Available online 20 January 2025, Version of Record 22 January 2025</a:t>
            </a: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800"/>
              <a:t>This work was supported by the Basic Science Research Program of the National Research Foundation of Korea , Samsung Display Co., Ltd, and SEU start-up fund.</a:t>
            </a: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645160" y="351155"/>
            <a:ext cx="2974975" cy="61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Method Details</a:t>
            </a:r>
            <a:endParaRPr lang="en-US" altLang="en-GB"/>
          </a:p>
        </p:txBody>
      </p:sp>
      <p:grpSp>
        <p:nvGrpSpPr>
          <p:cNvPr id="321" name="Google Shape;321;p37"/>
          <p:cNvGrpSpPr/>
          <p:nvPr/>
        </p:nvGrpSpPr>
        <p:grpSpPr>
          <a:xfrm flipH="1">
            <a:off x="25" y="198687"/>
            <a:ext cx="8648675" cy="0"/>
            <a:chOff x="1000850" y="1547100"/>
            <a:chExt cx="8648675" cy="0"/>
          </a:xfrm>
        </p:grpSpPr>
        <p:cxnSp>
          <p:nvCxnSpPr>
            <p:cNvPr id="322" name="Google Shape;322;p37"/>
            <p:cNvCxnSpPr/>
            <p:nvPr/>
          </p:nvCxnSpPr>
          <p:spPr>
            <a:xfrm>
              <a:off x="10008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7"/>
            <p:cNvCxnSpPr/>
            <p:nvPr/>
          </p:nvCxnSpPr>
          <p:spPr>
            <a:xfrm>
              <a:off x="1442425" y="1547100"/>
              <a:ext cx="820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278;p34"/>
          <p:cNvSpPr txBox="1"/>
          <p:nvPr/>
        </p:nvSpPr>
        <p:spPr>
          <a:xfrm>
            <a:off x="409575" y="4699635"/>
            <a:ext cx="8446135" cy="4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Video</a:t>
            </a:r>
            <a:r>
              <a:rPr lang="en-US" altLang="en-US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→ YOLOv8-pose → BoT-SORT </a:t>
            </a:r>
            <a:r>
              <a:rPr lang="en-US" altLang="en-US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→ Pose Normalization &amp; Windowing →</a:t>
            </a:r>
            <a:r>
              <a:rPr lang="en-US" altLang="en-US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TCN + Transformer Encoder (TCNTE) → </a:t>
            </a:r>
            <a:r>
              <a:rPr lang="en-US" altLang="en-US" sz="1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Classification</a:t>
            </a:r>
            <a:endParaRPr lang="en-US" altLang="en-US" sz="1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57250" y="876300"/>
            <a:ext cx="285686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The network  architecture of TCNTE</a:t>
            </a: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cxnSp>
        <p:nvCxnSpPr>
          <p:cNvPr id="11" name="Google Shape;323;p37"/>
          <p:cNvCxnSpPr/>
          <p:nvPr/>
        </p:nvCxnSpPr>
        <p:spPr>
          <a:xfrm flipH="1">
            <a:off x="409575" y="4752975"/>
            <a:ext cx="8538210" cy="15240"/>
          </a:xfrm>
          <a:prstGeom prst="straightConnector1">
            <a:avLst/>
          </a:prstGeom>
          <a:noFill/>
          <a:ln w="9525" cap="flat" cmpd="sng">
            <a:solidFill>
              <a:schemeClr val="dk1">
                <a:alpha val="32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918" t="3590" r="1717" b="12202"/>
          <a:stretch>
            <a:fillRect/>
          </a:stretch>
        </p:blipFill>
        <p:spPr>
          <a:xfrm>
            <a:off x="1242060" y="1327785"/>
            <a:ext cx="6659245" cy="30111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Step-by-Step Pipeline Explanation</a:t>
            </a:r>
            <a:endParaRPr lang="en-US" altLang="en-US"/>
          </a:p>
        </p:txBody>
      </p:sp>
      <p:graphicFrame>
        <p:nvGraphicFramePr>
          <p:cNvPr id="215" name="Google Shape;215;p29"/>
          <p:cNvGraphicFramePr/>
          <p:nvPr>
            <p:custDataLst>
              <p:tags r:id="rId1"/>
            </p:custDataLst>
          </p:nvPr>
        </p:nvGraphicFramePr>
        <p:xfrm>
          <a:off x="720090" y="1119505"/>
          <a:ext cx="7390130" cy="2027555"/>
        </p:xfrm>
        <a:graphic>
          <a:graphicData uri="http://schemas.openxmlformats.org/drawingml/2006/table">
            <a:tbl>
              <a:tblPr>
                <a:noFill/>
                <a:tableStyleId>{C7A47DB2-CF74-43BB-A3BB-4E7B9E0F4469}</a:tableStyleId>
              </a:tblPr>
              <a:tblGrid>
                <a:gridCol w="2324735"/>
                <a:gridCol w="5065395"/>
              </a:tblGrid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YOLOv8-pose</a:t>
                      </a:r>
                      <a:endParaRPr lang="en-US" altLang="en-US" sz="1000" b="1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Detects humans and extracts 17 keypoint skeletons from each video frame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BoT-SORT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Tracks each person across frames, assigns consistent ID for each sequence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Pose Normalization 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Aligns all skeletons to a standard scale and reference point (e.g., hip-centered, min-max normalization)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Windowing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Groups consecutive frames (e.g., 45) into a motion sequence for temporal analysis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TCN + Transformer Encoder (TCNTE)</a:t>
                      </a:r>
                      <a:endParaRPr lang="en-US" altLang="en-US" sz="1000" b="1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Learns both short- and long-term motion patterns to detect falls accurately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1434465" y="4558030"/>
            <a:ext cx="153987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 sz="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17 key points (YOLOv8)</a:t>
            </a:r>
            <a:endParaRPr lang="en-US" altLang="en-GB"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225800" y="4558030"/>
            <a:ext cx="245618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GB" sz="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Temporal Convolution Network (TCN)</a:t>
            </a:r>
            <a:endParaRPr lang="en-US" altLang="en-GB"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6038850" y="4558030"/>
            <a:ext cx="1284605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Transformer Encoder </a:t>
            </a:r>
            <a:endParaRPr lang="en-US" altLang="en-GB"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14613" r="20688" b="10938"/>
          <a:stretch>
            <a:fillRect/>
          </a:stretch>
        </p:blipFill>
        <p:spPr>
          <a:xfrm>
            <a:off x="1630045" y="3337560"/>
            <a:ext cx="1148080" cy="116014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rcRect l="45895" t="5948" r="8210" b="10545"/>
          <a:stretch>
            <a:fillRect/>
          </a:stretch>
        </p:blipFill>
        <p:spPr>
          <a:xfrm>
            <a:off x="6130290" y="3305175"/>
            <a:ext cx="1148715" cy="125285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4"/>
          <a:stretch>
            <a:fillRect/>
          </a:stretch>
        </p:blipFill>
        <p:spPr>
          <a:xfrm>
            <a:off x="3411220" y="3315335"/>
            <a:ext cx="2085975" cy="11823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485140" y="274320"/>
            <a:ext cx="2974975" cy="61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Dataset Details</a:t>
            </a:r>
            <a:endParaRPr lang="en-US" altLang="en-GB"/>
          </a:p>
        </p:txBody>
      </p:sp>
      <p:grpSp>
        <p:nvGrpSpPr>
          <p:cNvPr id="321" name="Google Shape;321;p37"/>
          <p:cNvGrpSpPr/>
          <p:nvPr/>
        </p:nvGrpSpPr>
        <p:grpSpPr>
          <a:xfrm flipH="1">
            <a:off x="25" y="198687"/>
            <a:ext cx="8648675" cy="0"/>
            <a:chOff x="1000850" y="1547100"/>
            <a:chExt cx="8648675" cy="0"/>
          </a:xfrm>
        </p:grpSpPr>
        <p:cxnSp>
          <p:nvCxnSpPr>
            <p:cNvPr id="322" name="Google Shape;322;p37"/>
            <p:cNvCxnSpPr/>
            <p:nvPr/>
          </p:nvCxnSpPr>
          <p:spPr>
            <a:xfrm>
              <a:off x="10008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7"/>
            <p:cNvCxnSpPr/>
            <p:nvPr/>
          </p:nvCxnSpPr>
          <p:spPr>
            <a:xfrm>
              <a:off x="1442425" y="1547100"/>
              <a:ext cx="820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705" r="1551" b="10252"/>
          <a:stretch>
            <a:fillRect/>
          </a:stretch>
        </p:blipFill>
        <p:spPr>
          <a:xfrm>
            <a:off x="577850" y="1569720"/>
            <a:ext cx="3844290" cy="22212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855" y="944245"/>
            <a:ext cx="3966845" cy="10166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50" y="2237105"/>
            <a:ext cx="3956050" cy="2479040"/>
          </a:xfrm>
          <a:prstGeom prst="rect">
            <a:avLst/>
          </a:prstGeom>
        </p:spPr>
      </p:pic>
      <p:sp>
        <p:nvSpPr>
          <p:cNvPr id="4" name="Google Shape;278;p34"/>
          <p:cNvSpPr txBox="1"/>
          <p:nvPr/>
        </p:nvSpPr>
        <p:spPr>
          <a:xfrm>
            <a:off x="803275" y="3790950"/>
            <a:ext cx="346075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8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Classification results on UP-Fall test set using Jetson Orin NX</a:t>
            </a:r>
            <a:endParaRPr lang="en-US" altLang="en-US" sz="8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3270" y="875030"/>
            <a:ext cx="5276215" cy="11728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270" y="2409825"/>
            <a:ext cx="5320030" cy="106108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270" y="3741420"/>
            <a:ext cx="5320030" cy="1002030"/>
          </a:xfrm>
          <a:prstGeom prst="rect">
            <a:avLst/>
          </a:prstGeom>
        </p:spPr>
      </p:pic>
      <p:sp>
        <p:nvSpPr>
          <p:cNvPr id="316" name="Google Shape;316;p37"/>
          <p:cNvSpPr txBox="1"/>
          <p:nvPr>
            <p:ph type="title"/>
          </p:nvPr>
        </p:nvSpPr>
        <p:spPr>
          <a:xfrm>
            <a:off x="485140" y="274320"/>
            <a:ext cx="2974975" cy="61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Results</a:t>
            </a:r>
            <a:endParaRPr lang="en-US" altLang="en-GB"/>
          </a:p>
        </p:txBody>
      </p:sp>
      <p:grpSp>
        <p:nvGrpSpPr>
          <p:cNvPr id="321" name="Google Shape;321;p37"/>
          <p:cNvGrpSpPr/>
          <p:nvPr/>
        </p:nvGrpSpPr>
        <p:grpSpPr>
          <a:xfrm flipH="1">
            <a:off x="25" y="4938327"/>
            <a:ext cx="8648675" cy="0"/>
            <a:chOff x="1000850" y="1547100"/>
            <a:chExt cx="8648675" cy="0"/>
          </a:xfrm>
        </p:grpSpPr>
        <p:cxnSp>
          <p:nvCxnSpPr>
            <p:cNvPr id="322" name="Google Shape;322;p37"/>
            <p:cNvCxnSpPr/>
            <p:nvPr/>
          </p:nvCxnSpPr>
          <p:spPr>
            <a:xfrm>
              <a:off x="10008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7"/>
            <p:cNvCxnSpPr/>
            <p:nvPr/>
          </p:nvCxnSpPr>
          <p:spPr>
            <a:xfrm>
              <a:off x="1442425" y="1547100"/>
              <a:ext cx="820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/>
          <p:nvPr>
            <p:ph type="title"/>
          </p:nvPr>
        </p:nvSpPr>
        <p:spPr>
          <a:xfrm>
            <a:off x="1306830" y="316865"/>
            <a:ext cx="5490210" cy="6286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Strengths &amp; Limitations</a:t>
            </a:r>
            <a:endParaRPr lang="en-US" altLang="en-GB"/>
          </a:p>
        </p:txBody>
      </p:sp>
      <p:grpSp>
        <p:nvGrpSpPr>
          <p:cNvPr id="332" name="Google Shape;332;p38"/>
          <p:cNvGrpSpPr/>
          <p:nvPr/>
        </p:nvGrpSpPr>
        <p:grpSpPr>
          <a:xfrm>
            <a:off x="1377525" y="4873025"/>
            <a:ext cx="8169300" cy="0"/>
            <a:chOff x="2220050" y="1547100"/>
            <a:chExt cx="8169300" cy="0"/>
          </a:xfrm>
        </p:grpSpPr>
        <p:cxnSp>
          <p:nvCxnSpPr>
            <p:cNvPr id="333" name="Google Shape;333;p3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38"/>
            <p:cNvCxnSpPr/>
            <p:nvPr/>
          </p:nvCxnSpPr>
          <p:spPr>
            <a:xfrm>
              <a:off x="2684450" y="1547100"/>
              <a:ext cx="770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409" name="Google Shape;409;p44"/>
          <p:cNvGraphicFramePr/>
          <p:nvPr/>
        </p:nvGraphicFramePr>
        <p:xfrm>
          <a:off x="1365313" y="1371160"/>
          <a:ext cx="7022465" cy="2882900"/>
        </p:xfrm>
        <a:graphic>
          <a:graphicData uri="http://schemas.openxmlformats.org/drawingml/2006/table">
            <a:tbl>
              <a:tblPr>
                <a:noFill/>
                <a:tableStyleId>{585264E0-3481-454F-AFA1-BE3EFBD138C5}</a:tableStyleId>
              </a:tblPr>
              <a:tblGrid>
                <a:gridCol w="3657600"/>
                <a:gridCol w="3364865"/>
              </a:tblGrid>
              <a:tr h="45910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b="1">
                          <a:solidFill>
                            <a:srgbClr val="00B05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Strengths</a:t>
                      </a:r>
                      <a:endParaRPr lang="en-US" altLang="en-GB" b="1">
                        <a:solidFill>
                          <a:srgbClr val="00B050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b="1">
                          <a:solidFill>
                            <a:srgbClr val="FF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Limitations</a:t>
                      </a:r>
                      <a:endParaRPr lang="en-US" altLang="en-GB" b="1">
                        <a:solidFill>
                          <a:srgbClr val="FF0000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High accuracy (99.58%) and robust to noise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Dependent on pose estimation quality (YOLOv8-pose)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Real-time performance (19 FPS on Jetson Orin NX)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Needs consistent lighting and camera placement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Works in multi-person and occlusion-heavy scenes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Transformer adds computational cost compared to LSTM/CNN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No wearable sensors required — camera-only system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Tested only on indoor dataset — may need outdoor generalization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0220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Uses strong architecture: TCN + Transformer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1500200" y="2699650"/>
            <a:ext cx="3362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Paper</a:t>
            </a:r>
            <a:endParaRPr lang="en-US" altLang="en-GB"/>
          </a:p>
        </p:txBody>
      </p:sp>
      <p:sp>
        <p:nvSpPr>
          <p:cNvPr id="261" name="Google Shape;261;p33"/>
          <p:cNvSpPr txBox="1"/>
          <p:nvPr>
            <p:ph type="title" idx="2"/>
          </p:nvPr>
        </p:nvSpPr>
        <p:spPr>
          <a:xfrm>
            <a:off x="1500200" y="1602050"/>
            <a:ext cx="1288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0</a:t>
            </a:r>
            <a:r>
              <a:rPr lang="en-US" altLang="en-GB"/>
              <a:t>3</a:t>
            </a:r>
            <a:endParaRPr lang="en-US" altLang="en-GB"/>
          </a:p>
        </p:txBody>
      </p:sp>
      <p:grpSp>
        <p:nvGrpSpPr>
          <p:cNvPr id="262" name="Google Shape;262;p33"/>
          <p:cNvGrpSpPr/>
          <p:nvPr/>
        </p:nvGrpSpPr>
        <p:grpSpPr>
          <a:xfrm flipH="1">
            <a:off x="-93625" y="2521475"/>
            <a:ext cx="4993500" cy="0"/>
            <a:chOff x="2220050" y="1547100"/>
            <a:chExt cx="4993500" cy="0"/>
          </a:xfrm>
        </p:grpSpPr>
        <p:cxnSp>
          <p:nvCxnSpPr>
            <p:cNvPr id="263" name="Google Shape;263;p3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33"/>
            <p:cNvCxnSpPr/>
            <p:nvPr/>
          </p:nvCxnSpPr>
          <p:spPr>
            <a:xfrm>
              <a:off x="2684450" y="1547100"/>
              <a:ext cx="452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000"/>
              <a:t>Hybrid Deep Learning for Human Fall Detection: A Synergistic Approach Using YOLOv8 and Time-Space Transformers</a:t>
            </a:r>
            <a:endParaRPr lang="en-US" altLang="en-US" sz="2000"/>
          </a:p>
        </p:txBody>
      </p:sp>
      <p:sp>
        <p:nvSpPr>
          <p:cNvPr id="4" name="Google Shape;274;p34"/>
          <p:cNvSpPr txBox="1"/>
          <p:nvPr/>
        </p:nvSpPr>
        <p:spPr>
          <a:xfrm>
            <a:off x="827405" y="3072765"/>
            <a:ext cx="3608070" cy="413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Problems:</a:t>
            </a:r>
            <a:endParaRPr lang="en-US" altLang="en-GB" sz="2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6" name="Google Shape;276;p34"/>
          <p:cNvSpPr txBox="1"/>
          <p:nvPr/>
        </p:nvSpPr>
        <p:spPr>
          <a:xfrm>
            <a:off x="721360" y="3564890"/>
            <a:ext cx="4033520" cy="1119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2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Old models are slow and can’t run in real-time</a:t>
            </a: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Many use sensors or need manual feature design</a:t>
            </a: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Transformers are strong, but hard to train and slow</a:t>
            </a:r>
            <a:endParaRPr lang="en-US" altLang="en-US" sz="12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9" name="Google Shape;274;p34"/>
          <p:cNvSpPr txBox="1"/>
          <p:nvPr/>
        </p:nvSpPr>
        <p:spPr>
          <a:xfrm>
            <a:off x="4754880" y="3030855"/>
            <a:ext cx="3608070" cy="413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2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Main Idea:</a:t>
            </a:r>
            <a:endParaRPr lang="en-US" altLang="en-GB" sz="2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1" name="Google Shape;276;p34"/>
          <p:cNvSpPr txBox="1"/>
          <p:nvPr/>
        </p:nvSpPr>
        <p:spPr>
          <a:xfrm>
            <a:off x="4838065" y="3606165"/>
            <a:ext cx="3801745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91425" rIns="91425" bIns="91425" anchor="t" anchorCtr="0">
            <a:noAutofit/>
          </a:bodyPr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YOLOv8 finds people in each video frame</a:t>
            </a: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TST understands how they move over time</a:t>
            </a: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114300" lvl="0" indent="-13335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Poppins" panose="00000500000000000000"/>
              <a:buChar char="●"/>
            </a:pP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Detects Fall vs Non-Fall</a:t>
            </a: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2" name="Google Shape;278;p34"/>
          <p:cNvSpPr txBox="1"/>
          <p:nvPr/>
        </p:nvSpPr>
        <p:spPr>
          <a:xfrm>
            <a:off x="4838065" y="3355340"/>
            <a:ext cx="3967480" cy="283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Combine YOLOv8 and a Time-Space Transformer (TST)</a:t>
            </a:r>
            <a:endParaRPr lang="en-US" altLang="en-US" sz="1000" b="1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2501265" y="4838700"/>
            <a:ext cx="482790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1000">
                <a:solidFill>
                  <a:srgbClr val="002060"/>
                </a:solidFill>
              </a:rPr>
              <a:t>https://ieeexplore.ieee.org/abstract/document/10909442</a:t>
            </a:r>
            <a:endParaRPr lang="en-US" altLang="en-US" sz="1000">
              <a:solidFill>
                <a:srgbClr val="002060"/>
              </a:solidFill>
            </a:endParaRPr>
          </a:p>
        </p:txBody>
      </p:sp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6509385" y="1785620"/>
            <a:ext cx="1853565" cy="406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05" y="1708785"/>
            <a:ext cx="5175250" cy="8629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59539" b="20509"/>
          <a:stretch>
            <a:fillRect/>
          </a:stretch>
        </p:blipFill>
        <p:spPr>
          <a:xfrm>
            <a:off x="887730" y="2656840"/>
            <a:ext cx="4279900" cy="1593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645160" y="351155"/>
            <a:ext cx="2974975" cy="61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Method Details</a:t>
            </a:r>
            <a:endParaRPr lang="en-US" altLang="en-GB"/>
          </a:p>
        </p:txBody>
      </p:sp>
      <p:grpSp>
        <p:nvGrpSpPr>
          <p:cNvPr id="321" name="Google Shape;321;p37"/>
          <p:cNvGrpSpPr/>
          <p:nvPr/>
        </p:nvGrpSpPr>
        <p:grpSpPr>
          <a:xfrm flipH="1">
            <a:off x="25" y="198687"/>
            <a:ext cx="8648675" cy="0"/>
            <a:chOff x="1000850" y="1547100"/>
            <a:chExt cx="8648675" cy="0"/>
          </a:xfrm>
        </p:grpSpPr>
        <p:cxnSp>
          <p:nvCxnSpPr>
            <p:cNvPr id="322" name="Google Shape;322;p37"/>
            <p:cNvCxnSpPr/>
            <p:nvPr/>
          </p:nvCxnSpPr>
          <p:spPr>
            <a:xfrm>
              <a:off x="10008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7"/>
            <p:cNvCxnSpPr/>
            <p:nvPr/>
          </p:nvCxnSpPr>
          <p:spPr>
            <a:xfrm>
              <a:off x="1442425" y="1547100"/>
              <a:ext cx="820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" name="Google Shape;278;p34"/>
          <p:cNvSpPr txBox="1"/>
          <p:nvPr/>
        </p:nvSpPr>
        <p:spPr>
          <a:xfrm>
            <a:off x="409575" y="4699635"/>
            <a:ext cx="8446135" cy="473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1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Video</a:t>
            </a:r>
            <a:r>
              <a:rPr lang="en-US" altLang="en-US" sz="1000" b="1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→ YOLOv8 → CNN Features → Time-Space Transformer (TST) → </a:t>
            </a:r>
            <a:r>
              <a:rPr lang="en-US" altLang="en-US" sz="1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Fall / Non-Fall </a:t>
            </a:r>
            <a:r>
              <a:rPr lang="en-US" altLang="en-US" sz="1000" b="1">
                <a:solidFill>
                  <a:schemeClr val="bg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Classification</a:t>
            </a:r>
            <a:endParaRPr lang="en-US" altLang="en-US" sz="1000" b="1">
              <a:solidFill>
                <a:schemeClr val="bg2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57250" y="876300"/>
            <a:ext cx="2856865" cy="260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Proposed methodology</a:t>
            </a:r>
            <a:endParaRPr lang="en-US" altLang="en-US" sz="11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cxnSp>
        <p:nvCxnSpPr>
          <p:cNvPr id="11" name="Google Shape;323;p37"/>
          <p:cNvCxnSpPr/>
          <p:nvPr/>
        </p:nvCxnSpPr>
        <p:spPr>
          <a:xfrm flipH="1">
            <a:off x="409575" y="4752975"/>
            <a:ext cx="8538210" cy="15240"/>
          </a:xfrm>
          <a:prstGeom prst="straightConnector1">
            <a:avLst/>
          </a:prstGeom>
          <a:noFill/>
          <a:ln w="9525" cap="flat" cmpd="sng">
            <a:solidFill>
              <a:schemeClr val="dk1">
                <a:alpha val="32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rcRect t="2575" b="43190"/>
          <a:stretch>
            <a:fillRect/>
          </a:stretch>
        </p:blipFill>
        <p:spPr>
          <a:xfrm>
            <a:off x="943610" y="1144270"/>
            <a:ext cx="3093085" cy="34309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54130" b="3354"/>
          <a:stretch>
            <a:fillRect/>
          </a:stretch>
        </p:blipFill>
        <p:spPr>
          <a:xfrm>
            <a:off x="4487545" y="1225550"/>
            <a:ext cx="3758565" cy="32677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Step-by-Step Pipeline Explanation</a:t>
            </a:r>
            <a:endParaRPr lang="en-US" altLang="en-US"/>
          </a:p>
        </p:txBody>
      </p:sp>
      <p:graphicFrame>
        <p:nvGraphicFramePr>
          <p:cNvPr id="215" name="Google Shape;215;p29"/>
          <p:cNvGraphicFramePr/>
          <p:nvPr>
            <p:custDataLst>
              <p:tags r:id="rId1"/>
            </p:custDataLst>
          </p:nvPr>
        </p:nvGraphicFramePr>
        <p:xfrm>
          <a:off x="720090" y="1119505"/>
          <a:ext cx="7390130" cy="2027555"/>
        </p:xfrm>
        <a:graphic>
          <a:graphicData uri="http://schemas.openxmlformats.org/drawingml/2006/table">
            <a:tbl>
              <a:tblPr>
                <a:noFill/>
                <a:tableStyleId>{C7A47DB2-CF74-43BB-A3BB-4E7B9E0F4469}</a:tableStyleId>
              </a:tblPr>
              <a:tblGrid>
                <a:gridCol w="2324735"/>
                <a:gridCol w="5065395"/>
              </a:tblGrid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YOLOv8</a:t>
                      </a:r>
                      <a:endParaRPr lang="en-US" altLang="en-US" sz="1000" b="1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Detects humans in each frame and extracts bounding box features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CNN Feature Extraction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Converts each frame into a compact feature vector (appearance info)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9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Pose Normalization 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Aligns all skeletons to a standard scale and reference point (e.g., hip-centered, min-max normalization)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Time-Space Transformer (TST)</a:t>
                      </a:r>
                      <a:endParaRPr lang="en-US" altLang="en-US" sz="800" b="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/>
                        <a:t>   Learns motion and time-based changes across frames</a:t>
                      </a:r>
                      <a:endParaRPr lang="en-US" altLang="zh-CN" sz="1100"/>
                    </a:p>
                  </a:txBody>
                  <a:tcPr marL="0" marR="0" marT="0" marB="0" anchor="ctr" anchorCtr="0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3225800" y="4558030"/>
            <a:ext cx="2456180" cy="213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8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Time Space Transformer (TST) - Time + Spce</a:t>
            </a:r>
            <a:endParaRPr lang="en-US" altLang="en-US" sz="8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 t="11407" b="11870"/>
          <a:stretch>
            <a:fillRect/>
          </a:stretch>
        </p:blipFill>
        <p:spPr>
          <a:xfrm>
            <a:off x="2856865" y="2842895"/>
            <a:ext cx="3284855" cy="17151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485140" y="274320"/>
            <a:ext cx="2974975" cy="61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Dataset Details</a:t>
            </a:r>
            <a:endParaRPr lang="en-US" altLang="en-GB"/>
          </a:p>
        </p:txBody>
      </p:sp>
      <p:grpSp>
        <p:nvGrpSpPr>
          <p:cNvPr id="321" name="Google Shape;321;p37"/>
          <p:cNvGrpSpPr/>
          <p:nvPr/>
        </p:nvGrpSpPr>
        <p:grpSpPr>
          <a:xfrm flipH="1">
            <a:off x="25" y="198687"/>
            <a:ext cx="8648675" cy="0"/>
            <a:chOff x="1000850" y="1547100"/>
            <a:chExt cx="8648675" cy="0"/>
          </a:xfrm>
        </p:grpSpPr>
        <p:cxnSp>
          <p:nvCxnSpPr>
            <p:cNvPr id="322" name="Google Shape;322;p37"/>
            <p:cNvCxnSpPr/>
            <p:nvPr/>
          </p:nvCxnSpPr>
          <p:spPr>
            <a:xfrm>
              <a:off x="10008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7"/>
            <p:cNvCxnSpPr/>
            <p:nvPr/>
          </p:nvCxnSpPr>
          <p:spPr>
            <a:xfrm>
              <a:off x="1442425" y="1547100"/>
              <a:ext cx="820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" name="Picture 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255" y="3742055"/>
            <a:ext cx="7502525" cy="1131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963" b="48152"/>
          <a:stretch>
            <a:fillRect/>
          </a:stretch>
        </p:blipFill>
        <p:spPr>
          <a:xfrm>
            <a:off x="485140" y="1111250"/>
            <a:ext cx="3948430" cy="1719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848" t="53834" r="1437"/>
          <a:stretch>
            <a:fillRect/>
          </a:stretch>
        </p:blipFill>
        <p:spPr>
          <a:xfrm>
            <a:off x="4380865" y="1111250"/>
            <a:ext cx="4371340" cy="171831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6" name="Google Shape;316;p37"/>
          <p:cNvSpPr txBox="1"/>
          <p:nvPr>
            <p:ph type="title"/>
          </p:nvPr>
        </p:nvSpPr>
        <p:spPr>
          <a:xfrm>
            <a:off x="485140" y="274320"/>
            <a:ext cx="2974975" cy="61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Results</a:t>
            </a:r>
            <a:endParaRPr lang="en-US" altLang="en-GB"/>
          </a:p>
        </p:txBody>
      </p:sp>
      <p:grpSp>
        <p:nvGrpSpPr>
          <p:cNvPr id="321" name="Google Shape;321;p37"/>
          <p:cNvGrpSpPr/>
          <p:nvPr/>
        </p:nvGrpSpPr>
        <p:grpSpPr>
          <a:xfrm flipH="1">
            <a:off x="25" y="4938327"/>
            <a:ext cx="8648675" cy="0"/>
            <a:chOff x="1000850" y="1547100"/>
            <a:chExt cx="8648675" cy="0"/>
          </a:xfrm>
        </p:grpSpPr>
        <p:cxnSp>
          <p:nvCxnSpPr>
            <p:cNvPr id="322" name="Google Shape;322;p37"/>
            <p:cNvCxnSpPr/>
            <p:nvPr/>
          </p:nvCxnSpPr>
          <p:spPr>
            <a:xfrm>
              <a:off x="10008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37"/>
            <p:cNvCxnSpPr/>
            <p:nvPr/>
          </p:nvCxnSpPr>
          <p:spPr>
            <a:xfrm>
              <a:off x="1442425" y="1547100"/>
              <a:ext cx="8207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b="50132"/>
          <a:stretch>
            <a:fillRect/>
          </a:stretch>
        </p:blipFill>
        <p:spPr>
          <a:xfrm>
            <a:off x="485140" y="1445895"/>
            <a:ext cx="4090035" cy="225171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50635"/>
          <a:stretch>
            <a:fillRect/>
          </a:stretch>
        </p:blipFill>
        <p:spPr>
          <a:xfrm>
            <a:off x="4681220" y="1443990"/>
            <a:ext cx="4090035" cy="222948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8"/>
          <p:cNvSpPr txBox="1"/>
          <p:nvPr>
            <p:ph type="title"/>
          </p:nvPr>
        </p:nvSpPr>
        <p:spPr>
          <a:xfrm>
            <a:off x="1306830" y="316865"/>
            <a:ext cx="5490210" cy="6286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Strengths &amp; Limitations</a:t>
            </a:r>
            <a:endParaRPr lang="en-US" altLang="en-GB"/>
          </a:p>
        </p:txBody>
      </p:sp>
      <p:grpSp>
        <p:nvGrpSpPr>
          <p:cNvPr id="332" name="Google Shape;332;p38"/>
          <p:cNvGrpSpPr/>
          <p:nvPr/>
        </p:nvGrpSpPr>
        <p:grpSpPr>
          <a:xfrm>
            <a:off x="1377525" y="4873025"/>
            <a:ext cx="8169300" cy="0"/>
            <a:chOff x="2220050" y="1547100"/>
            <a:chExt cx="8169300" cy="0"/>
          </a:xfrm>
        </p:grpSpPr>
        <p:cxnSp>
          <p:nvCxnSpPr>
            <p:cNvPr id="333" name="Google Shape;333;p3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38"/>
            <p:cNvCxnSpPr/>
            <p:nvPr/>
          </p:nvCxnSpPr>
          <p:spPr>
            <a:xfrm>
              <a:off x="2684450" y="1547100"/>
              <a:ext cx="770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409" name="Google Shape;409;p44"/>
          <p:cNvGraphicFramePr/>
          <p:nvPr/>
        </p:nvGraphicFramePr>
        <p:xfrm>
          <a:off x="1365313" y="1371160"/>
          <a:ext cx="7022465" cy="2883535"/>
        </p:xfrm>
        <a:graphic>
          <a:graphicData uri="http://schemas.openxmlformats.org/drawingml/2006/table">
            <a:tbl>
              <a:tblPr>
                <a:noFill/>
                <a:tableStyleId>{585264E0-3481-454F-AFA1-BE3EFBD138C5}</a:tableStyleId>
              </a:tblPr>
              <a:tblGrid>
                <a:gridCol w="3657600"/>
                <a:gridCol w="3364865"/>
              </a:tblGrid>
              <a:tr h="45910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b="1">
                          <a:solidFill>
                            <a:srgbClr val="00B05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Strengths</a:t>
                      </a:r>
                      <a:endParaRPr lang="en-US" altLang="en-GB" b="1">
                        <a:solidFill>
                          <a:srgbClr val="00B050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b="1">
                          <a:solidFill>
                            <a:srgbClr val="FF0000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Limitations</a:t>
                      </a:r>
                      <a:endParaRPr lang="en-US" altLang="en-GB" b="1">
                        <a:solidFill>
                          <a:srgbClr val="FF0000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82600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Very high accuracy: Accuracy ~99.84%, F1-score ~99.82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Transformer needs more memory (computationally expensive)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Learns both space (YOLOv8) and time (Transformer)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Depends on good camera input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Works without sensors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Transformer adds computational cost compared to LSTM/CNN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Can detect multiple people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Tested in limited environments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90220"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Uses strong architecture: TCN + Transformer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1139520" y="2669805"/>
            <a:ext cx="33621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&amp; Insight</a:t>
            </a:r>
            <a:endParaRPr lang="en-US" altLang="en-GB"/>
          </a:p>
        </p:txBody>
      </p:sp>
      <p:sp>
        <p:nvSpPr>
          <p:cNvPr id="261" name="Google Shape;261;p33"/>
          <p:cNvSpPr txBox="1"/>
          <p:nvPr>
            <p:ph type="title" idx="2"/>
          </p:nvPr>
        </p:nvSpPr>
        <p:spPr>
          <a:xfrm>
            <a:off x="989330" y="1586865"/>
            <a:ext cx="4264660" cy="8420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 lang="en-US"/>
          </a:p>
        </p:txBody>
      </p:sp>
      <p:grpSp>
        <p:nvGrpSpPr>
          <p:cNvPr id="262" name="Google Shape;262;p33"/>
          <p:cNvGrpSpPr/>
          <p:nvPr/>
        </p:nvGrpSpPr>
        <p:grpSpPr>
          <a:xfrm flipH="1">
            <a:off x="-27585" y="2475120"/>
            <a:ext cx="4993500" cy="0"/>
            <a:chOff x="2220050" y="1547100"/>
            <a:chExt cx="4993500" cy="0"/>
          </a:xfrm>
        </p:grpSpPr>
        <p:cxnSp>
          <p:nvCxnSpPr>
            <p:cNvPr id="263" name="Google Shape;263;p33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4" name="Google Shape;264;p33"/>
            <p:cNvCxnSpPr/>
            <p:nvPr/>
          </p:nvCxnSpPr>
          <p:spPr>
            <a:xfrm>
              <a:off x="2684450" y="1547100"/>
              <a:ext cx="4529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4"/>
          <p:cNvSpPr txBox="1"/>
          <p:nvPr>
            <p:ph type="title"/>
          </p:nvPr>
        </p:nvSpPr>
        <p:spPr>
          <a:xfrm>
            <a:off x="720000" y="29135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/>
              <a:t>Conclusion &amp; Insights</a:t>
            </a:r>
            <a:endParaRPr lang="en-US" altLang="en-US"/>
          </a:p>
        </p:txBody>
      </p:sp>
      <p:graphicFrame>
        <p:nvGraphicFramePr>
          <p:cNvPr id="409" name="Google Shape;409;p44"/>
          <p:cNvGraphicFramePr/>
          <p:nvPr/>
        </p:nvGraphicFramePr>
        <p:xfrm>
          <a:off x="958913" y="965395"/>
          <a:ext cx="7230110" cy="3289935"/>
        </p:xfrm>
        <a:graphic>
          <a:graphicData uri="http://schemas.openxmlformats.org/drawingml/2006/table">
            <a:tbl>
              <a:tblPr>
                <a:noFill/>
                <a:tableStyleId>{585264E0-3481-454F-AFA1-BE3EFBD138C5}</a:tableStyleId>
              </a:tblPr>
              <a:tblGrid>
                <a:gridCol w="1342375"/>
                <a:gridCol w="2883535"/>
                <a:gridCol w="3004475"/>
              </a:tblGrid>
              <a:tr h="4641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>
                          <a:solidFill>
                            <a:schemeClr val="bg2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Paper</a:t>
                      </a:r>
                      <a:endParaRPr lang="en-US" altLang="en-GB">
                        <a:solidFill>
                          <a:schemeClr val="bg2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>
                          <a:solidFill>
                            <a:schemeClr val="bg2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Main Method</a:t>
                      </a:r>
                      <a:endParaRPr lang="en-US" altLang="en-US">
                        <a:solidFill>
                          <a:schemeClr val="bg2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>
                          <a:solidFill>
                            <a:schemeClr val="bg2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Key Feature</a:t>
                      </a:r>
                      <a:endParaRPr lang="en-US" altLang="en-US">
                        <a:solidFill>
                          <a:schemeClr val="bg2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Paper 1</a:t>
                      </a:r>
                      <a:endParaRPr lang="en-US" altLang="en-US" sz="1000" b="1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PCA + K-means + Fusion-KNN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3D skeleton, 3-stage state classification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Paper 2</a:t>
                      </a:r>
                      <a:endParaRPr lang="en-US" altLang="en-US" sz="1000" b="1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YOLOv8 + BoT-SORT + TCN + Transformer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Real-time fall detection, occlusion handling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709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Paper </a:t>
                      </a:r>
                      <a:r>
                        <a:rPr lang="en-GB" sz="1000" b="1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3</a:t>
                      </a:r>
                      <a:endParaRPr sz="1000" b="1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YOLOv8 + Time-Space Transformer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US" sz="1000">
                          <a:solidFill>
                            <a:schemeClr val="dk1"/>
                          </a:solidFill>
                          <a:latin typeface="Poppins" panose="00000500000000000000"/>
                          <a:ea typeface="Poppins" panose="00000500000000000000"/>
                          <a:cs typeface="Poppins" panose="00000500000000000000"/>
                          <a:sym typeface="Poppins" panose="00000500000000000000"/>
                        </a:rPr>
                        <a:t>High accuracy using pure visual input</a:t>
                      </a:r>
                      <a:endParaRPr lang="en-US" altLang="en-US" sz="1000">
                        <a:solidFill>
                          <a:schemeClr val="dk1"/>
                        </a:solidFill>
                        <a:latin typeface="Poppins" panose="00000500000000000000"/>
                        <a:ea typeface="Poppins" panose="00000500000000000000"/>
                        <a:cs typeface="Poppins" panose="00000500000000000000"/>
                        <a:sym typeface="Poppins" panose="0000050000000000000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919480" y="3117850"/>
            <a:ext cx="3522345" cy="1721485"/>
          </a:xfrm>
          <a:prstGeom prst="rect">
            <a:avLst/>
          </a:prstGeom>
        </p:spPr>
        <p:txBody>
          <a:bodyPr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1600" b="1">
                <a:solidFill>
                  <a:srgbClr val="00B050"/>
                </a:solidFill>
              </a:rPr>
              <a:t>What works well:</a:t>
            </a:r>
            <a:endParaRPr lang="en-US" altLang="en-US" sz="1600" b="1">
              <a:solidFill>
                <a:srgbClr val="00B050"/>
              </a:solidFill>
            </a:endParaRPr>
          </a:p>
          <a:p>
            <a:pPr>
              <a:buFont typeface="Arial" panose="020B0604020202020204"/>
              <a:buChar char="•"/>
            </a:pPr>
            <a:endParaRPr lang="en-US" altLang="en-US" sz="1000"/>
          </a:p>
          <a:p>
            <a:pPr>
              <a:buFont typeface="Arial" panose="020B0604020202020204"/>
              <a:buChar char="•"/>
            </a:pPr>
            <a:r>
              <a:rPr lang="en-US" altLang="en-US" sz="1000"/>
              <a:t> High accuracy in controlled environments</a:t>
            </a:r>
            <a:endParaRPr lang="en-US" altLang="en-US" sz="1000"/>
          </a:p>
          <a:p>
            <a:pPr>
              <a:buFont typeface="Arial" panose="020B0604020202020204"/>
              <a:buChar char="•"/>
            </a:pPr>
            <a:endParaRPr lang="en-US" altLang="en-US" sz="1000"/>
          </a:p>
          <a:p>
            <a:pPr>
              <a:buFont typeface="Arial" panose="020B0604020202020204"/>
              <a:buChar char="•"/>
            </a:pPr>
            <a:r>
              <a:rPr lang="en-US" altLang="en-US" sz="1000"/>
              <a:t> Real-time detection using lightweight models</a:t>
            </a:r>
            <a:endParaRPr lang="en-US" altLang="en-US" sz="1000"/>
          </a:p>
          <a:p>
            <a:pPr>
              <a:buFont typeface="Arial" panose="020B0604020202020204"/>
              <a:buChar char="•"/>
            </a:pPr>
            <a:endParaRPr lang="en-US" altLang="en-US" sz="1000"/>
          </a:p>
          <a:p>
            <a:pPr>
              <a:buFont typeface="Arial" panose="020B0604020202020204"/>
              <a:buChar char="•"/>
            </a:pPr>
            <a:r>
              <a:rPr lang="en-US" altLang="en-US" sz="1000"/>
              <a:t> Useful combination of spatial (YOLO) and temporal (Transformer) features</a:t>
            </a:r>
            <a:endParaRPr lang="en-US" altLang="en-US" sz="1000"/>
          </a:p>
        </p:txBody>
      </p:sp>
      <p:sp>
        <p:nvSpPr>
          <p:cNvPr id="11" name="Text Box 10"/>
          <p:cNvSpPr txBox="1"/>
          <p:nvPr/>
        </p:nvSpPr>
        <p:spPr>
          <a:xfrm>
            <a:off x="4839970" y="3117850"/>
            <a:ext cx="3522345" cy="1721485"/>
          </a:xfrm>
          <a:prstGeom prst="rect">
            <a:avLst/>
          </a:prstGeom>
        </p:spPr>
        <p:txBody>
          <a:bodyPr>
            <a:noAutofit/>
          </a:bodyPr>
          <a:p>
            <a:pPr indent="0">
              <a:buFont typeface="Arial" panose="020B0604020202020204"/>
              <a:buNone/>
            </a:pPr>
            <a:r>
              <a:rPr lang="en-US" altLang="en-US" sz="1600" b="1">
                <a:solidFill>
                  <a:srgbClr val="FF0000"/>
                </a:solidFill>
              </a:rPr>
              <a:t>What is missing:</a:t>
            </a:r>
            <a:endParaRPr lang="en-US" altLang="en-US" sz="1600" b="1">
              <a:solidFill>
                <a:srgbClr val="FF0000"/>
              </a:solidFill>
            </a:endParaRPr>
          </a:p>
          <a:p>
            <a:pPr>
              <a:buFont typeface="Arial" panose="020B0604020202020204"/>
              <a:buChar char="•"/>
            </a:pPr>
            <a:endParaRPr lang="en-US" altLang="en-US" sz="1000"/>
          </a:p>
          <a:p>
            <a:pPr>
              <a:buFont typeface="Arial" panose="020B0604020202020204"/>
              <a:buChar char="•"/>
            </a:pPr>
            <a:r>
              <a:rPr lang="en-US" altLang="en-US" sz="1000"/>
              <a:t> Most papers are tested only indoors</a:t>
            </a:r>
            <a:endParaRPr lang="en-US" altLang="en-US" sz="1000"/>
          </a:p>
          <a:p>
            <a:pPr>
              <a:buFont typeface="Arial" panose="020B0604020202020204"/>
              <a:buChar char="•"/>
            </a:pPr>
            <a:endParaRPr lang="en-US" altLang="en-US" sz="1000"/>
          </a:p>
          <a:p>
            <a:pPr>
              <a:buFont typeface="Arial" panose="020B0604020202020204"/>
              <a:buChar char="•"/>
            </a:pPr>
            <a:r>
              <a:rPr lang="en-US" altLang="en-US" sz="1000"/>
              <a:t> Construction site scenarios with many workers, gear, and occlusion are not fully addressed</a:t>
            </a:r>
            <a:endParaRPr lang="en-US" altLang="en-US" sz="1000"/>
          </a:p>
        </p:txBody>
      </p:sp>
      <p:sp>
        <p:nvSpPr>
          <p:cNvPr id="12" name="Text Box 11"/>
          <p:cNvSpPr txBox="1"/>
          <p:nvPr/>
        </p:nvSpPr>
        <p:spPr>
          <a:xfrm>
            <a:off x="9168130" y="485076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7"/>
          <p:cNvSpPr txBox="1"/>
          <p:nvPr>
            <p:ph type="title"/>
          </p:nvPr>
        </p:nvSpPr>
        <p:spPr>
          <a:xfrm>
            <a:off x="3474243" y="48425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tx1"/>
                </a:solidFill>
              </a:rPr>
              <a:t>THANKS!</a:t>
            </a:r>
            <a:endParaRPr lang="en-GB">
              <a:solidFill>
                <a:schemeClr val="tx1"/>
              </a:solidFill>
            </a:endParaRPr>
          </a:p>
        </p:txBody>
      </p:sp>
      <p:sp>
        <p:nvSpPr>
          <p:cNvPr id="465" name="Google Shape;465;p47"/>
          <p:cNvSpPr txBox="1"/>
          <p:nvPr>
            <p:ph type="subTitle" idx="1"/>
          </p:nvPr>
        </p:nvSpPr>
        <p:spPr>
          <a:xfrm>
            <a:off x="3474205" y="157333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bg2"/>
                </a:solidFill>
              </a:rPr>
              <a:t> Q&amp;A</a:t>
            </a:r>
            <a:endParaRPr lang="en-US" sz="3600" b="1">
              <a:solidFill>
                <a:schemeClr val="bg2"/>
              </a:solidFill>
            </a:endParaRPr>
          </a:p>
        </p:txBody>
      </p:sp>
      <p:sp>
        <p:nvSpPr>
          <p:cNvPr id="466" name="Google Shape;466;p47"/>
          <p:cNvSpPr txBox="1"/>
          <p:nvPr/>
        </p:nvSpPr>
        <p:spPr>
          <a:xfrm>
            <a:off x="3578860" y="3394075"/>
            <a:ext cx="4572000" cy="74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tx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Abbos Aliboev</a:t>
            </a:r>
            <a:endParaRPr lang="en-US" altLang="en-GB">
              <a:solidFill>
                <a:schemeClr val="tx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en-GB" sz="1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GitHub: </a:t>
            </a:r>
            <a:r>
              <a:rPr lang="en-US" altLang="en-US" sz="1000">
                <a:solidFill>
                  <a:schemeClr val="dk1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https://github.com/abbosaliboev/fall-detection-research/</a:t>
            </a:r>
            <a:endParaRPr lang="en-US" altLang="en-US" sz="1000">
              <a:solidFill>
                <a:schemeClr val="dk1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grpSp>
        <p:nvGrpSpPr>
          <p:cNvPr id="332" name="Google Shape;332;p38"/>
          <p:cNvGrpSpPr/>
          <p:nvPr/>
        </p:nvGrpSpPr>
        <p:grpSpPr>
          <a:xfrm>
            <a:off x="2930735" y="2863885"/>
            <a:ext cx="8169300" cy="0"/>
            <a:chOff x="2220050" y="1547100"/>
            <a:chExt cx="8169300" cy="0"/>
          </a:xfrm>
        </p:grpSpPr>
        <p:cxnSp>
          <p:nvCxnSpPr>
            <p:cNvPr id="333" name="Google Shape;333;p38"/>
            <p:cNvCxnSpPr/>
            <p:nvPr/>
          </p:nvCxnSpPr>
          <p:spPr>
            <a:xfrm>
              <a:off x="2220050" y="1547100"/>
              <a:ext cx="464400" cy="0"/>
            </a:xfrm>
            <a:prstGeom prst="straightConnector1">
              <a:avLst/>
            </a:prstGeom>
            <a:noFill/>
            <a:ln w="1143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4" name="Google Shape;334;p38"/>
            <p:cNvCxnSpPr/>
            <p:nvPr/>
          </p:nvCxnSpPr>
          <p:spPr>
            <a:xfrm>
              <a:off x="2684450" y="1547100"/>
              <a:ext cx="7704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581*159"/>
  <p:tag name="TABLE_ENDDRAG_RECT" val="56*127*581*159"/>
</p:tagLst>
</file>

<file path=ppt/tags/tag2.xml><?xml version="1.0" encoding="utf-8"?>
<p:tagLst xmlns:p="http://schemas.openxmlformats.org/presentationml/2006/main">
  <p:tag name="TABLE_ENDDRAG_ORIGIN_RECT" val="581*159"/>
  <p:tag name="TABLE_ENDDRAG_RECT" val="56*127*581*159"/>
</p:tagLst>
</file>

<file path=ppt/tags/tag3.xml><?xml version="1.0" encoding="utf-8"?>
<p:tagLst xmlns:p="http://schemas.openxmlformats.org/presentationml/2006/main">
  <p:tag name="TABLE_ENDDRAG_ORIGIN_RECT" val="581*159"/>
  <p:tag name="TABLE_ENDDRAG_RECT" val="56*127*581*159"/>
</p:tagLst>
</file>

<file path=ppt/theme/theme1.xml><?xml version="1.0" encoding="utf-8"?>
<a:theme xmlns:a="http://schemas.openxmlformats.org/drawingml/2006/main" name="Clean and Neat Style Portfolio by Slidesgo">
  <a:themeElements>
    <a:clrScheme name="Simple Light">
      <a:dk1>
        <a:srgbClr val="191919"/>
      </a:dk1>
      <a:lt1>
        <a:srgbClr val="FFFFFF"/>
      </a:lt1>
      <a:dk2>
        <a:srgbClr val="45818E"/>
      </a:dk2>
      <a:lt2>
        <a:srgbClr val="D9D9D9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6632</Words>
  <Application>WPS Presentation</Application>
  <PresentationFormat/>
  <Paragraphs>376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4" baseType="lpstr">
      <vt:lpstr>Arial</vt:lpstr>
      <vt:lpstr>SimSun</vt:lpstr>
      <vt:lpstr>Wingdings</vt:lpstr>
      <vt:lpstr>Arial</vt:lpstr>
      <vt:lpstr>Poppins</vt:lpstr>
      <vt:lpstr>Nunito Light</vt:lpstr>
      <vt:lpstr>한컴 고딕</vt:lpstr>
      <vt:lpstr>Proxima Nova</vt:lpstr>
      <vt:lpstr>Anaheim</vt:lpstr>
      <vt:lpstr>Microsoft YaHei</vt:lpstr>
      <vt:lpstr>Arial Unicode MS</vt:lpstr>
      <vt:lpstr>Poppins Light</vt:lpstr>
      <vt:lpstr>Calibri</vt:lpstr>
      <vt:lpstr>Amatic SC</vt:lpstr>
      <vt:lpstr>Roboto Medium</vt:lpstr>
      <vt:lpstr>Clean and Neat Style Portfolio by Slidesgo</vt:lpstr>
      <vt:lpstr>CLEAN AND NEAT STYLE PORTFOLIO</vt:lpstr>
      <vt:lpstr>06</vt:lpstr>
      <vt:lpstr>THINGS TO INCLUDE IN YOUR PORTFOLIO</vt:lpstr>
      <vt:lpstr>Methods</vt:lpstr>
      <vt:lpstr>02</vt:lpstr>
      <vt:lpstr>JANE DOE</vt:lpstr>
      <vt:lpstr>PHOTO SHOWCASE</vt:lpstr>
      <vt:lpstr>CONTENTS OF THIS TEMPLATE</vt:lpstr>
      <vt:lpstr>Method Details</vt:lpstr>
      <vt:lpstr>COVER LETTER</vt:lpstr>
      <vt:lpstr>MY BEST WORK</vt:lpstr>
      <vt:lpstr>01</vt:lpstr>
      <vt:lpstr>Fall-portent detection for construction sites based on computer vision and machine learning.</vt:lpstr>
      <vt:lpstr>Method Details</vt:lpstr>
      <vt:lpstr>Step-by-Step Pipeline Explanation</vt:lpstr>
      <vt:lpstr>Dataset Details</vt:lpstr>
      <vt:lpstr>Dataset Details</vt:lpstr>
      <vt:lpstr>Strengths &amp; Limitations</vt:lpstr>
      <vt:lpstr>02</vt:lpstr>
      <vt:lpstr>A Real-time skeleton-based fall detection algorithm based on temporal convolutional networks and transformer encoder</vt:lpstr>
      <vt:lpstr>Method Details</vt:lpstr>
      <vt:lpstr>Step-by-Step Pipeline Explanation</vt:lpstr>
      <vt:lpstr>Dataset Details</vt:lpstr>
      <vt:lpstr>Results</vt:lpstr>
      <vt:lpstr>Strengths &amp; Limitations</vt:lpstr>
      <vt:lpstr>03</vt:lpstr>
      <vt:lpstr>TABLE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Fall Detection: A Review of Recent Research Papers</dc:title>
  <dc:creator/>
  <cp:lastModifiedBy>dalab</cp:lastModifiedBy>
  <cp:revision>5</cp:revision>
  <dcterms:created xsi:type="dcterms:W3CDTF">2025-07-14T19:36:33Z</dcterms:created>
  <dcterms:modified xsi:type="dcterms:W3CDTF">2025-07-15T04:27:18Z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5925482597C6424D96D9CDDAA3750B11_13</vt:lpwstr>
  </property>
  <property fmtid="{D5CDD505-2E9C-101B-9397-08002B2CF9AE}" pid="3" name="KSOProductBuildVer">
    <vt:lpwstr>1033-12.2.0.21931</vt:lpwstr>
  </property>
</Properties>
</file>