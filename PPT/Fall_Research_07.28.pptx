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305" r:id="rId5"/>
    <p:sldId id="259" r:id="rId6"/>
    <p:sldId id="266" r:id="rId7"/>
    <p:sldId id="267" r:id="rId8"/>
    <p:sldId id="270" r:id="rId9"/>
    <p:sldId id="260" r:id="rId10"/>
    <p:sldId id="261" r:id="rId11"/>
    <p:sldId id="296" r:id="rId12"/>
    <p:sldId id="300" r:id="rId13"/>
    <p:sldId id="262" r:id="rId14"/>
    <p:sldId id="301" r:id="rId15"/>
    <p:sldId id="304" r:id="rId16"/>
    <p:sldId id="263" r:id="rId17"/>
    <p:sldId id="268" r:id="rId18"/>
    <p:sldId id="303" r:id="rId19"/>
    <p:sldId id="264" r:id="rId20"/>
    <p:sldId id="265" r:id="rId21"/>
    <p:sldId id="302" r:id="rId22"/>
  </p:sldIdLst>
  <p:sldSz cx="9144000" cy="5143500"/>
  <p:notesSz cx="6858000" cy="9144000"/>
  <p:embeddedFontLst>
    <p:embeddedFont>
      <p:font typeface="SimSun" panose="02010600030101010101" pitchFamily="2" charset="-122"/>
      <p:regular r:id="rId26"/>
    </p:embeddedFont>
    <p:embeddedFont>
      <p:font typeface="Poppins" panose="00000500000000000000"/>
      <p:regular r:id="rId27"/>
    </p:embeddedFont>
    <p:embeddedFont>
      <p:font typeface="Didact Gothic" panose="00000500000000000000"/>
      <p:regular r:id="rId28"/>
    </p:embeddedFont>
    <p:embeddedFont>
      <p:font typeface="Raleway"/>
      <p:regular r:id="rId29"/>
    </p:embeddedFont>
    <p:embeddedFont>
      <p:font typeface="Montserrat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47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font" Target="fonts/font5.fntdata"/><Relationship Id="rId3" Type="http://schemas.openxmlformats.org/officeDocument/2006/relationships/slide" Target="slides/slide1.xml"/><Relationship Id="rId29" Type="http://schemas.openxmlformats.org/officeDocument/2006/relationships/font" Target="fonts/font4.fntdata"/><Relationship Id="rId28" Type="http://schemas.openxmlformats.org/officeDocument/2006/relationships/font" Target="fonts/font3.fntdata"/><Relationship Id="rId27" Type="http://schemas.openxmlformats.org/officeDocument/2006/relationships/font" Target="fonts/font2.fntdata"/><Relationship Id="rId26" Type="http://schemas.openxmlformats.org/officeDocument/2006/relationships/font" Target="fonts/font1.fntdata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4dfce81f19_0_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4dfce81f19_0_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b1324a7d30_0_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b1324a7d30_0_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b1022eedc3_0_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b1022eedc3_0_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b1022eedc3_0_3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2b1022eedc3_0_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2b1022eedc3_0_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2b1022eedc3_0_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2b1022eedc3_0_4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2b1022eedc3_0_4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b1022eedc3_0_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b1022eedc3_0_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b1022eedc3_0_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b1022eedc3_0_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b1022eedc3_0_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b1022eedc3_0_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b1022eedc3_0_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b1022eedc3_0_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1022eedc3_0_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b1022eedc3_0_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b1022eedc3_0_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b1022eedc3_0_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2b1022eedc3_0_4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2b1022eedc3_0_4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b1022eedc3_0_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b1022eedc3_0_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b1022eedc3_0_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2b1022eedc3_0_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4dfce81f19_0_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4dfce81f19_0_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hyperlink" Target="http://bit.ly/2TtBDfr" TargetMode="External"/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355125" y="814525"/>
            <a:ext cx="6350100" cy="26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type="subTitle" idx="1"/>
          </p:nvPr>
        </p:nvSpPr>
        <p:spPr>
          <a:xfrm>
            <a:off x="1355125" y="3745850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12" name="Google Shape;12;p2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047175" y="2571975"/>
            <a:ext cx="4383600" cy="12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type="title" idx="2" hasCustomPrompt="1"/>
          </p:nvPr>
        </p:nvSpPr>
        <p:spPr>
          <a:xfrm>
            <a:off x="4047175" y="1321975"/>
            <a:ext cx="13326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/>
          <p:nvPr>
            <p:ph type="pic" idx="3"/>
          </p:nvPr>
        </p:nvSpPr>
        <p:spPr>
          <a:xfrm>
            <a:off x="713225" y="539500"/>
            <a:ext cx="2760600" cy="4064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type="body" idx="1"/>
          </p:nvPr>
        </p:nvSpPr>
        <p:spPr>
          <a:xfrm>
            <a:off x="720000" y="1215750"/>
            <a:ext cx="7704000" cy="12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21" name="Google Shape;21;p4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22" name="Google Shape;22;p4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3" name="Google Shape;23;p4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type="subTitle" idx="1"/>
          </p:nvPr>
        </p:nvSpPr>
        <p:spPr>
          <a:xfrm>
            <a:off x="5056151" y="2574154"/>
            <a:ext cx="27690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type="subTitle" idx="2"/>
          </p:nvPr>
        </p:nvSpPr>
        <p:spPr>
          <a:xfrm>
            <a:off x="1318850" y="2574154"/>
            <a:ext cx="27690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type="subTitle" idx="3"/>
          </p:nvPr>
        </p:nvSpPr>
        <p:spPr>
          <a:xfrm>
            <a:off x="1318850" y="1771900"/>
            <a:ext cx="2769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type="subTitle" idx="4"/>
          </p:nvPr>
        </p:nvSpPr>
        <p:spPr>
          <a:xfrm>
            <a:off x="5056153" y="1771900"/>
            <a:ext cx="2769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30" name="Google Shape;30;p5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31" name="Google Shape;31;p5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5" name="Google Shape;35;p6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36" name="Google Shape;36;p6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7" name="Google Shape;37;p6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subTitle" idx="1"/>
          </p:nvPr>
        </p:nvSpPr>
        <p:spPr>
          <a:xfrm>
            <a:off x="811975" y="2001200"/>
            <a:ext cx="4294800" cy="229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type="title"/>
          </p:nvPr>
        </p:nvSpPr>
        <p:spPr>
          <a:xfrm>
            <a:off x="811975" y="1017225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7"/>
          <p:cNvSpPr/>
          <p:nvPr>
            <p:ph type="pic" idx="2"/>
          </p:nvPr>
        </p:nvSpPr>
        <p:spPr>
          <a:xfrm>
            <a:off x="5643775" y="539500"/>
            <a:ext cx="2787000" cy="4064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2" name="Google Shape;42;p7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43" name="Google Shape;43;p7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4" name="Google Shape;44;p7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47" name="Google Shape;47;p8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48" name="Google Shape;48;p8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9" name="Google Shape;49;p8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53" name="Google Shape;53;p9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54" name="Google Shape;54;p9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5" name="Google Shape;55;p9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/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 hasCustomPrompt="1"/>
          </p:nvPr>
        </p:nvSpPr>
        <p:spPr>
          <a:xfrm>
            <a:off x="1284000" y="1303775"/>
            <a:ext cx="6576000" cy="16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1" name="Google Shape;61;p11"/>
          <p:cNvSpPr txBox="1"/>
          <p:nvPr>
            <p:ph type="subTitle" idx="1"/>
          </p:nvPr>
        </p:nvSpPr>
        <p:spPr>
          <a:xfrm>
            <a:off x="1284000" y="325907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62" name="Google Shape;62;p11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63" name="Google Shape;63;p11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4" name="Google Shape;64;p11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chemeClr val="accent3"/>
        </a:solidFill>
        <a:effectLst/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type="title" idx="2" hasCustomPrompt="1"/>
          </p:nvPr>
        </p:nvSpPr>
        <p:spPr>
          <a:xfrm>
            <a:off x="720000" y="1611324"/>
            <a:ext cx="734700" cy="504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/>
          <p:nvPr>
            <p:ph type="title" idx="3" hasCustomPrompt="1"/>
          </p:nvPr>
        </p:nvSpPr>
        <p:spPr>
          <a:xfrm>
            <a:off x="720000" y="3044627"/>
            <a:ext cx="734700" cy="504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/>
          <p:nvPr>
            <p:ph type="title" idx="4" hasCustomPrompt="1"/>
          </p:nvPr>
        </p:nvSpPr>
        <p:spPr>
          <a:xfrm>
            <a:off x="3419275" y="1611324"/>
            <a:ext cx="734700" cy="504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/>
          <p:nvPr>
            <p:ph type="title" idx="5" hasCustomPrompt="1"/>
          </p:nvPr>
        </p:nvSpPr>
        <p:spPr>
          <a:xfrm>
            <a:off x="3419275" y="3044627"/>
            <a:ext cx="734700" cy="504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/>
          <p:nvPr>
            <p:ph type="title" idx="6" hasCustomPrompt="1"/>
          </p:nvPr>
        </p:nvSpPr>
        <p:spPr>
          <a:xfrm>
            <a:off x="6118550" y="1611324"/>
            <a:ext cx="734700" cy="504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/>
          <p:nvPr>
            <p:ph type="title" idx="7" hasCustomPrompt="1"/>
          </p:nvPr>
        </p:nvSpPr>
        <p:spPr>
          <a:xfrm>
            <a:off x="6118550" y="3044627"/>
            <a:ext cx="734700" cy="504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/>
          <p:nvPr>
            <p:ph type="subTitle" idx="1"/>
          </p:nvPr>
        </p:nvSpPr>
        <p:spPr>
          <a:xfrm>
            <a:off x="720000" y="229345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5" name="Google Shape;75;p13"/>
          <p:cNvSpPr txBox="1"/>
          <p:nvPr>
            <p:ph type="subTitle" idx="8"/>
          </p:nvPr>
        </p:nvSpPr>
        <p:spPr>
          <a:xfrm>
            <a:off x="3419275" y="229345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type="subTitle" idx="9"/>
          </p:nvPr>
        </p:nvSpPr>
        <p:spPr>
          <a:xfrm>
            <a:off x="6118550" y="229345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7" name="Google Shape;77;p13"/>
          <p:cNvSpPr txBox="1"/>
          <p:nvPr>
            <p:ph type="subTitle" idx="13"/>
          </p:nvPr>
        </p:nvSpPr>
        <p:spPr>
          <a:xfrm>
            <a:off x="720000" y="3726825"/>
            <a:ext cx="23814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8" name="Google Shape;78;p13"/>
          <p:cNvSpPr txBox="1"/>
          <p:nvPr>
            <p:ph type="subTitle" idx="14"/>
          </p:nvPr>
        </p:nvSpPr>
        <p:spPr>
          <a:xfrm>
            <a:off x="3419275" y="372682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9" name="Google Shape;79;p13"/>
          <p:cNvSpPr txBox="1"/>
          <p:nvPr>
            <p:ph type="subTitle" idx="15"/>
          </p:nvPr>
        </p:nvSpPr>
        <p:spPr>
          <a:xfrm>
            <a:off x="6118550" y="3726825"/>
            <a:ext cx="24792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80" name="Google Shape;80;p13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81" name="Google Shape;81;p13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>
            <p:ph type="title"/>
          </p:nvPr>
        </p:nvSpPr>
        <p:spPr>
          <a:xfrm>
            <a:off x="1355163" y="7312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14"/>
          <p:cNvSpPr txBox="1"/>
          <p:nvPr>
            <p:ph type="subTitle" idx="1"/>
          </p:nvPr>
        </p:nvSpPr>
        <p:spPr>
          <a:xfrm>
            <a:off x="1355125" y="1984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" name="Google Shape;86;p14"/>
          <p:cNvSpPr txBox="1"/>
          <p:nvPr/>
        </p:nvSpPr>
        <p:spPr>
          <a:xfrm>
            <a:off x="1355125" y="3611950"/>
            <a:ext cx="48105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rPr>
              <a:t>CREDITS:</a:t>
            </a:r>
            <a:r>
              <a:rPr lang="en-GB" sz="10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rPr>
              <a:t> This presentation template was created by </a:t>
            </a:r>
            <a:r>
              <a:rPr lang="en-GB" sz="1000" b="1" u="sng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  <a:hlinkClick r:id="rId2"/>
              </a:rPr>
              <a:t>Slidesgo</a:t>
            </a:r>
            <a:r>
              <a:rPr lang="en-GB" sz="10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rPr>
              <a:t>, and includes icons by </a:t>
            </a:r>
            <a:r>
              <a:rPr lang="en-GB" sz="1000" b="1" u="sng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  <a:hlinkClick r:id="rId3"/>
              </a:rPr>
              <a:t>Flaticon</a:t>
            </a:r>
            <a:r>
              <a:rPr lang="en-GB" sz="10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rPr>
              <a:t>, and infographics &amp; images by </a:t>
            </a:r>
            <a:r>
              <a:rPr lang="en-GB" sz="1000" b="1" u="sng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  <a:hlinkClick r:id="rId4"/>
              </a:rPr>
              <a:t>Freepik</a:t>
            </a:r>
            <a:r>
              <a:rPr lang="en-GB" sz="1000" u="sng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rPr>
              <a:t> </a:t>
            </a:r>
            <a:endParaRPr sz="1000" b="1" u="sng">
              <a:solidFill>
                <a:schemeClr val="dk1"/>
              </a:solidFill>
              <a:latin typeface="Didact Gothic" panose="00000500000000000000"/>
              <a:ea typeface="Didact Gothic" panose="00000500000000000000"/>
              <a:cs typeface="Didact Gothic" panose="00000500000000000000"/>
              <a:sym typeface="Didact Gothic" panose="00000500000000000000"/>
            </a:endParaRPr>
          </a:p>
        </p:txBody>
      </p:sp>
      <p:grpSp>
        <p:nvGrpSpPr>
          <p:cNvPr id="87" name="Google Shape;87;p14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88" name="Google Shape;88;p14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15"/>
          <p:cNvGrpSpPr/>
          <p:nvPr/>
        </p:nvGrpSpPr>
        <p:grpSpPr>
          <a:xfrm rot="10800000">
            <a:off x="8415525" y="0"/>
            <a:ext cx="728475" cy="5163250"/>
            <a:chOff x="-8400" y="0"/>
            <a:chExt cx="728475" cy="5163250"/>
          </a:xfrm>
        </p:grpSpPr>
        <p:sp>
          <p:nvSpPr>
            <p:cNvPr id="92" name="Google Shape;92;p15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6"/>
          <p:cNvGrpSpPr/>
          <p:nvPr/>
        </p:nvGrpSpPr>
        <p:grpSpPr>
          <a:xfrm rot="10800000">
            <a:off x="0" y="4830900"/>
            <a:ext cx="9144000" cy="312600"/>
            <a:chOff x="0" y="0"/>
            <a:chExt cx="9144000" cy="312600"/>
          </a:xfrm>
        </p:grpSpPr>
        <p:sp>
          <p:nvSpPr>
            <p:cNvPr id="96" name="Google Shape;96;p16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12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8.jpe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image" Target="../media/image12.png"/><Relationship Id="rId7" Type="http://schemas.openxmlformats.org/officeDocument/2006/relationships/tags" Target="../tags/tag18.xml"/><Relationship Id="rId6" Type="http://schemas.openxmlformats.org/officeDocument/2006/relationships/image" Target="../media/image11.png"/><Relationship Id="rId5" Type="http://schemas.openxmlformats.org/officeDocument/2006/relationships/tags" Target="../tags/tag17.xml"/><Relationship Id="rId4" Type="http://schemas.openxmlformats.org/officeDocument/2006/relationships/image" Target="../media/image10.png"/><Relationship Id="rId3" Type="http://schemas.openxmlformats.org/officeDocument/2006/relationships/tags" Target="../tags/tag16.xml"/><Relationship Id="rId23" Type="http://schemas.openxmlformats.org/officeDocument/2006/relationships/notesSlide" Target="../notesSlides/notesSlide9.xml"/><Relationship Id="rId22" Type="http://schemas.openxmlformats.org/officeDocument/2006/relationships/slideLayout" Target="../slideLayouts/slideLayout5.xml"/><Relationship Id="rId21" Type="http://schemas.openxmlformats.org/officeDocument/2006/relationships/tags" Target="../tags/tag28.xml"/><Relationship Id="rId20" Type="http://schemas.openxmlformats.org/officeDocument/2006/relationships/tags" Target="../tags/tag27.xml"/><Relationship Id="rId2" Type="http://schemas.openxmlformats.org/officeDocument/2006/relationships/image" Target="../media/image9.png"/><Relationship Id="rId19" Type="http://schemas.openxmlformats.org/officeDocument/2006/relationships/tags" Target="../tags/tag26.xml"/><Relationship Id="rId18" Type="http://schemas.openxmlformats.org/officeDocument/2006/relationships/tags" Target="../tags/tag25.xml"/><Relationship Id="rId17" Type="http://schemas.openxmlformats.org/officeDocument/2006/relationships/tags" Target="../tags/tag24.xml"/><Relationship Id="rId16" Type="http://schemas.openxmlformats.org/officeDocument/2006/relationships/tags" Target="../tags/tag23.xml"/><Relationship Id="rId15" Type="http://schemas.openxmlformats.org/officeDocument/2006/relationships/tags" Target="../tags/tag22.xml"/><Relationship Id="rId14" Type="http://schemas.openxmlformats.org/officeDocument/2006/relationships/image" Target="../media/image15.png"/><Relationship Id="rId13" Type="http://schemas.openxmlformats.org/officeDocument/2006/relationships/tags" Target="../tags/tag21.xml"/><Relationship Id="rId12" Type="http://schemas.openxmlformats.org/officeDocument/2006/relationships/image" Target="../media/image14.png"/><Relationship Id="rId11" Type="http://schemas.openxmlformats.org/officeDocument/2006/relationships/tags" Target="../tags/tag20.xml"/><Relationship Id="rId10" Type="http://schemas.openxmlformats.org/officeDocument/2006/relationships/image" Target="../media/image13.png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5.xml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ctrTitle"/>
          </p:nvPr>
        </p:nvSpPr>
        <p:spPr>
          <a:xfrm>
            <a:off x="1355125" y="814525"/>
            <a:ext cx="6350100" cy="26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sym typeface="+mn-ea"/>
              </a:rPr>
              <a:t>Fall Detection: </a:t>
            </a:r>
            <a:r>
              <a:rPr lang="en-US" altLang="en-US" b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sym typeface="+mn-ea"/>
              </a:rPr>
              <a:t>Progress Presentation</a:t>
            </a:r>
            <a:endParaRPr lang="en-US" altLang="en-US" b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109" name="Google Shape;109;p20"/>
          <p:cNvSpPr txBox="1"/>
          <p:nvPr>
            <p:ph type="subTitle" idx="1"/>
          </p:nvPr>
        </p:nvSpPr>
        <p:spPr>
          <a:xfrm>
            <a:off x="1355125" y="3745850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Abbos Aliboev</a:t>
            </a:r>
            <a:endParaRPr lang="en-US" altLang="en-GB"/>
          </a:p>
        </p:txBody>
      </p:sp>
      <p:cxnSp>
        <p:nvCxnSpPr>
          <p:cNvPr id="110" name="Google Shape;110;p20"/>
          <p:cNvCxnSpPr/>
          <p:nvPr/>
        </p:nvCxnSpPr>
        <p:spPr>
          <a:xfrm>
            <a:off x="1431100" y="3636300"/>
            <a:ext cx="5835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Table of contents</a:t>
            </a:r>
            <a:endParaRPr lang="en-GB"/>
          </a:p>
        </p:txBody>
      </p:sp>
      <p:sp>
        <p:nvSpPr>
          <p:cNvPr id="116" name="Google Shape;116;p21"/>
          <p:cNvSpPr txBox="1"/>
          <p:nvPr>
            <p:ph type="title" idx="2"/>
          </p:nvPr>
        </p:nvSpPr>
        <p:spPr>
          <a:xfrm>
            <a:off x="717460" y="1903424"/>
            <a:ext cx="734700" cy="50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01</a:t>
            </a:r>
            <a:endParaRPr lang="en-GB" sz="2000"/>
          </a:p>
        </p:txBody>
      </p:sp>
      <p:sp>
        <p:nvSpPr>
          <p:cNvPr id="122" name="Google Shape;122;p21"/>
          <p:cNvSpPr txBox="1"/>
          <p:nvPr>
            <p:ph type="subTitle" idx="1"/>
          </p:nvPr>
        </p:nvSpPr>
        <p:spPr>
          <a:xfrm>
            <a:off x="717550" y="2300605"/>
            <a:ext cx="1103630" cy="35306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200">
                <a:sym typeface="+mn-ea"/>
              </a:rPr>
              <a:t>Motivation</a:t>
            </a:r>
            <a:endParaRPr lang="en-US" altLang="en-GB" sz="1200">
              <a:sym typeface="+mn-ea"/>
            </a:endParaRPr>
          </a:p>
        </p:txBody>
      </p:sp>
      <p:sp>
        <p:nvSpPr>
          <p:cNvPr id="12" name="Google Shape;116;p21"/>
          <p:cNvSpPr txBox="1"/>
          <p:nvPr>
            <p:custDataLst>
              <p:tags r:id="rId1"/>
            </p:custDataLst>
          </p:nvPr>
        </p:nvSpPr>
        <p:spPr>
          <a:xfrm>
            <a:off x="2536100" y="1903424"/>
            <a:ext cx="734700" cy="504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0</a:t>
            </a:r>
            <a:r>
              <a:rPr lang="en-US" altLang="en-GB" sz="2000"/>
              <a:t>2</a:t>
            </a:r>
            <a:endParaRPr lang="en-US" altLang="en-GB" sz="2000"/>
          </a:p>
        </p:txBody>
      </p:sp>
      <p:sp>
        <p:nvSpPr>
          <p:cNvPr id="13" name="Google Shape;122;p21"/>
          <p:cNvSpPr txBox="1"/>
          <p:nvPr>
            <p:custDataLst>
              <p:tags r:id="rId2"/>
            </p:custDataLst>
          </p:nvPr>
        </p:nvSpPr>
        <p:spPr>
          <a:xfrm>
            <a:off x="2536190" y="2300605"/>
            <a:ext cx="1659890" cy="35306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>
                <a:sym typeface="+mn-ea"/>
              </a:rPr>
              <a:t>System Overview</a:t>
            </a:r>
            <a:endParaRPr lang="en-US" altLang="en-GB" sz="1200">
              <a:sym typeface="+mn-ea"/>
            </a:endParaRPr>
          </a:p>
        </p:txBody>
      </p:sp>
      <p:sp>
        <p:nvSpPr>
          <p:cNvPr id="14" name="Google Shape;116;p21"/>
          <p:cNvSpPr txBox="1"/>
          <p:nvPr>
            <p:custDataLst>
              <p:tags r:id="rId3"/>
            </p:custDataLst>
          </p:nvPr>
        </p:nvSpPr>
        <p:spPr>
          <a:xfrm>
            <a:off x="4399825" y="1890089"/>
            <a:ext cx="734700" cy="504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0</a:t>
            </a:r>
            <a:r>
              <a:rPr lang="en-US" altLang="en-GB" sz="2000"/>
              <a:t>3</a:t>
            </a:r>
            <a:endParaRPr lang="en-US" altLang="en-GB" sz="2000"/>
          </a:p>
        </p:txBody>
      </p:sp>
      <p:sp>
        <p:nvSpPr>
          <p:cNvPr id="15" name="Google Shape;122;p21"/>
          <p:cNvSpPr txBox="1"/>
          <p:nvPr>
            <p:custDataLst>
              <p:tags r:id="rId4"/>
            </p:custDataLst>
          </p:nvPr>
        </p:nvSpPr>
        <p:spPr>
          <a:xfrm>
            <a:off x="4399915" y="2287270"/>
            <a:ext cx="1248410" cy="35306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200">
                <a:sym typeface="+mn-ea"/>
              </a:rPr>
              <a:t>Dataset</a:t>
            </a:r>
            <a:endParaRPr lang="en-US" altLang="en-GB" sz="1200">
              <a:sym typeface="+mn-ea"/>
            </a:endParaRPr>
          </a:p>
        </p:txBody>
      </p:sp>
      <p:sp>
        <p:nvSpPr>
          <p:cNvPr id="16" name="Google Shape;116;p21"/>
          <p:cNvSpPr txBox="1"/>
          <p:nvPr>
            <p:custDataLst>
              <p:tags r:id="rId5"/>
            </p:custDataLst>
          </p:nvPr>
        </p:nvSpPr>
        <p:spPr>
          <a:xfrm>
            <a:off x="6139090" y="1890089"/>
            <a:ext cx="734700" cy="504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0</a:t>
            </a:r>
            <a:r>
              <a:rPr lang="en-US" altLang="en-GB" sz="2000"/>
              <a:t>4</a:t>
            </a:r>
            <a:endParaRPr lang="en-US" altLang="en-GB" sz="2000"/>
          </a:p>
        </p:txBody>
      </p:sp>
      <p:sp>
        <p:nvSpPr>
          <p:cNvPr id="17" name="Google Shape;122;p21"/>
          <p:cNvSpPr txBox="1"/>
          <p:nvPr>
            <p:custDataLst>
              <p:tags r:id="rId6"/>
            </p:custDataLst>
          </p:nvPr>
        </p:nvSpPr>
        <p:spPr>
          <a:xfrm>
            <a:off x="6139180" y="2287270"/>
            <a:ext cx="2588260" cy="35306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>
                <a:sym typeface="+mn-ea"/>
              </a:rPr>
              <a:t>Pose Completion + CNN + TE</a:t>
            </a:r>
            <a:endParaRPr lang="en-US" altLang="en-GB" sz="1200">
              <a:sym typeface="+mn-ea"/>
            </a:endParaRPr>
          </a:p>
        </p:txBody>
      </p:sp>
      <p:sp>
        <p:nvSpPr>
          <p:cNvPr id="18" name="Google Shape;116;p21"/>
          <p:cNvSpPr txBox="1"/>
          <p:nvPr>
            <p:custDataLst>
              <p:tags r:id="rId7"/>
            </p:custDataLst>
          </p:nvPr>
        </p:nvSpPr>
        <p:spPr>
          <a:xfrm>
            <a:off x="753020" y="2898469"/>
            <a:ext cx="734700" cy="504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0</a:t>
            </a:r>
            <a:r>
              <a:rPr lang="en-US" altLang="en-GB" sz="2000"/>
              <a:t>5</a:t>
            </a:r>
            <a:endParaRPr lang="en-US" altLang="en-GB" sz="2000"/>
          </a:p>
        </p:txBody>
      </p:sp>
      <p:sp>
        <p:nvSpPr>
          <p:cNvPr id="19" name="Google Shape;122;p21"/>
          <p:cNvSpPr txBox="1"/>
          <p:nvPr>
            <p:custDataLst>
              <p:tags r:id="rId8"/>
            </p:custDataLst>
          </p:nvPr>
        </p:nvSpPr>
        <p:spPr>
          <a:xfrm>
            <a:off x="753110" y="3295650"/>
            <a:ext cx="1710690" cy="35306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>
                <a:sym typeface="+mn-ea"/>
              </a:rPr>
              <a:t>Model Architecture</a:t>
            </a:r>
            <a:endParaRPr lang="en-US" altLang="en-GB" sz="1200">
              <a:sym typeface="+mn-ea"/>
            </a:endParaRPr>
          </a:p>
        </p:txBody>
      </p:sp>
      <p:sp>
        <p:nvSpPr>
          <p:cNvPr id="20" name="Google Shape;116;p21"/>
          <p:cNvSpPr txBox="1"/>
          <p:nvPr>
            <p:custDataLst>
              <p:tags r:id="rId9"/>
            </p:custDataLst>
          </p:nvPr>
        </p:nvSpPr>
        <p:spPr>
          <a:xfrm>
            <a:off x="2536100" y="2898469"/>
            <a:ext cx="734700" cy="504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0</a:t>
            </a:r>
            <a:r>
              <a:rPr lang="en-US" altLang="en-GB" sz="2000"/>
              <a:t>6</a:t>
            </a:r>
            <a:endParaRPr lang="en-US" altLang="en-GB" sz="2000"/>
          </a:p>
        </p:txBody>
      </p:sp>
      <p:sp>
        <p:nvSpPr>
          <p:cNvPr id="21" name="Google Shape;122;p21"/>
          <p:cNvSpPr txBox="1"/>
          <p:nvPr>
            <p:custDataLst>
              <p:tags r:id="rId10"/>
            </p:custDataLst>
          </p:nvPr>
        </p:nvSpPr>
        <p:spPr>
          <a:xfrm>
            <a:off x="2536190" y="3295650"/>
            <a:ext cx="1834515" cy="35306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>
                <a:sym typeface="+mn-ea"/>
              </a:rPr>
              <a:t>Comparative Table</a:t>
            </a:r>
            <a:endParaRPr lang="en-US" altLang="en-GB" sz="1200">
              <a:sym typeface="+mn-ea"/>
            </a:endParaRPr>
          </a:p>
        </p:txBody>
      </p:sp>
      <p:sp>
        <p:nvSpPr>
          <p:cNvPr id="23" name="Google Shape;116;p21"/>
          <p:cNvSpPr txBox="1"/>
          <p:nvPr>
            <p:custDataLst>
              <p:tags r:id="rId11"/>
            </p:custDataLst>
          </p:nvPr>
        </p:nvSpPr>
        <p:spPr>
          <a:xfrm>
            <a:off x="4427130" y="2898469"/>
            <a:ext cx="734700" cy="504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0</a:t>
            </a:r>
            <a:r>
              <a:rPr lang="en-US" altLang="en-GB" sz="2000"/>
              <a:t>7</a:t>
            </a:r>
            <a:endParaRPr lang="en-US" altLang="en-GB" sz="2000"/>
          </a:p>
        </p:txBody>
      </p:sp>
      <p:sp>
        <p:nvSpPr>
          <p:cNvPr id="24" name="Google Shape;122;p21"/>
          <p:cNvSpPr txBox="1"/>
          <p:nvPr>
            <p:custDataLst>
              <p:tags r:id="rId12"/>
            </p:custDataLst>
          </p:nvPr>
        </p:nvSpPr>
        <p:spPr>
          <a:xfrm>
            <a:off x="4427220" y="3295650"/>
            <a:ext cx="1798320" cy="35306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>
                <a:sym typeface="+mn-ea"/>
              </a:rPr>
              <a:t>Develop. Progress</a:t>
            </a:r>
            <a:endParaRPr lang="en-US" altLang="en-GB" sz="1200">
              <a:sym typeface="+mn-ea"/>
            </a:endParaRPr>
          </a:p>
        </p:txBody>
      </p:sp>
      <p:sp>
        <p:nvSpPr>
          <p:cNvPr id="25" name="Google Shape;116;p21"/>
          <p:cNvSpPr txBox="1"/>
          <p:nvPr>
            <p:custDataLst>
              <p:tags r:id="rId13"/>
            </p:custDataLst>
          </p:nvPr>
        </p:nvSpPr>
        <p:spPr>
          <a:xfrm>
            <a:off x="6156235" y="2898469"/>
            <a:ext cx="734700" cy="504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0</a:t>
            </a:r>
            <a:r>
              <a:rPr lang="en-US" altLang="en-GB" sz="2000"/>
              <a:t>8</a:t>
            </a:r>
            <a:endParaRPr lang="en-US" altLang="en-GB" sz="2000"/>
          </a:p>
        </p:txBody>
      </p:sp>
      <p:sp>
        <p:nvSpPr>
          <p:cNvPr id="26" name="Google Shape;122;p21"/>
          <p:cNvSpPr txBox="1"/>
          <p:nvPr>
            <p:custDataLst>
              <p:tags r:id="rId14"/>
            </p:custDataLst>
          </p:nvPr>
        </p:nvSpPr>
        <p:spPr>
          <a:xfrm>
            <a:off x="6156325" y="3295650"/>
            <a:ext cx="2025650" cy="35306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>
                <a:sym typeface="+mn-ea"/>
              </a:rPr>
              <a:t>Conclusion </a:t>
            </a:r>
            <a:endParaRPr lang="en-US" altLang="en-GB" sz="1200">
              <a:sym typeface="+mn-ea"/>
            </a:endParaRPr>
          </a:p>
        </p:txBody>
      </p:sp>
      <p:cxnSp>
        <p:nvCxnSpPr>
          <p:cNvPr id="110" name="Google Shape;110;p20"/>
          <p:cNvCxnSpPr/>
          <p:nvPr/>
        </p:nvCxnSpPr>
        <p:spPr>
          <a:xfrm>
            <a:off x="755460" y="1276005"/>
            <a:ext cx="5835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Motivation</a:t>
            </a:r>
            <a:endParaRPr lang="en-US" altLang="en-GB"/>
          </a:p>
        </p:txBody>
      </p:sp>
      <p:grpSp>
        <p:nvGrpSpPr>
          <p:cNvPr id="180" name="Google Shape;180;p23"/>
          <p:cNvGrpSpPr/>
          <p:nvPr/>
        </p:nvGrpSpPr>
        <p:grpSpPr>
          <a:xfrm>
            <a:off x="4190715" y="1688979"/>
            <a:ext cx="415857" cy="416304"/>
            <a:chOff x="3539102" y="2427549"/>
            <a:chExt cx="355099" cy="355481"/>
          </a:xfrm>
        </p:grpSpPr>
        <p:sp>
          <p:nvSpPr>
            <p:cNvPr id="181" name="Google Shape;181;p23"/>
            <p:cNvSpPr/>
            <p:nvPr/>
          </p:nvSpPr>
          <p:spPr>
            <a:xfrm>
              <a:off x="3539102" y="2561320"/>
              <a:ext cx="355099" cy="221710"/>
            </a:xfrm>
            <a:custGeom>
              <a:avLst/>
              <a:gdLst/>
              <a:ahLst/>
              <a:cxnLst/>
              <a:rect l="l" t="t" r="r" b="b"/>
              <a:pathLst>
                <a:path w="11157" h="6966" extrusionOk="0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" name="Google Shape;182;p23"/>
            <p:cNvSpPr/>
            <p:nvPr/>
          </p:nvSpPr>
          <p:spPr>
            <a:xfrm>
              <a:off x="3544417" y="2427549"/>
              <a:ext cx="339568" cy="205415"/>
            </a:xfrm>
            <a:custGeom>
              <a:avLst/>
              <a:gdLst/>
              <a:ahLst/>
              <a:cxnLst/>
              <a:rect l="l" t="t" r="r" b="b"/>
              <a:pathLst>
                <a:path w="10669" h="6454" extrusionOk="0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88" name="Google Shape;188;p23"/>
          <p:cNvSpPr txBox="1"/>
          <p:nvPr>
            <p:ph type="subTitle" idx="4294967295"/>
          </p:nvPr>
        </p:nvSpPr>
        <p:spPr>
          <a:xfrm>
            <a:off x="4500245" y="1483995"/>
            <a:ext cx="4131310" cy="5092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Construction sites are dangerous</a:t>
            </a:r>
            <a:endParaRPr lang="en-US" altLang="en-US" sz="1800" b="1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89" name="Google Shape;189;p23"/>
          <p:cNvSpPr txBox="1"/>
          <p:nvPr>
            <p:ph type="subTitle" idx="4294967295"/>
          </p:nvPr>
        </p:nvSpPr>
        <p:spPr>
          <a:xfrm>
            <a:off x="4500245" y="1840230"/>
            <a:ext cx="4131310" cy="5727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ym typeface="+mn-ea"/>
              </a:rPr>
              <a:t>– </a:t>
            </a:r>
            <a:r>
              <a:rPr lang="en-US" altLang="en-US"/>
              <a:t>Falls are the No-1 cause of death on construction sites</a:t>
            </a:r>
            <a:endParaRPr lang="en-US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ym typeface="+mn-ea"/>
              </a:rPr>
              <a:t>– </a:t>
            </a:r>
            <a:r>
              <a:rPr lang="en-US" altLang="en-US"/>
              <a:t>Many falls go unseen — no one reacts in time</a:t>
            </a:r>
            <a:endParaRPr lang="en-US" altLang="en-US"/>
          </a:p>
        </p:txBody>
      </p:sp>
      <p:sp>
        <p:nvSpPr>
          <p:cNvPr id="190" name="Google Shape;190;p23"/>
          <p:cNvSpPr txBox="1"/>
          <p:nvPr>
            <p:ph type="subTitle" idx="4294967295"/>
          </p:nvPr>
        </p:nvSpPr>
        <p:spPr>
          <a:xfrm>
            <a:off x="4499610" y="2687320"/>
            <a:ext cx="4114165" cy="4476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Real-time detection saves lives</a:t>
            </a:r>
            <a:endParaRPr lang="en-US" altLang="en-US" sz="1800" b="1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91" name="Google Shape;191;p23"/>
          <p:cNvSpPr txBox="1"/>
          <p:nvPr>
            <p:ph type="subTitle" idx="4294967295"/>
          </p:nvPr>
        </p:nvSpPr>
        <p:spPr>
          <a:xfrm>
            <a:off x="4499610" y="2982595"/>
            <a:ext cx="3103245" cy="5727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– Stop machines, call help immediately</a:t>
            </a:r>
            <a:endParaRPr lang="en-US" altLang="en-US"/>
          </a:p>
        </p:txBody>
      </p:sp>
      <p:sp>
        <p:nvSpPr>
          <p:cNvPr id="192" name="Google Shape;192;p23"/>
          <p:cNvSpPr txBox="1"/>
          <p:nvPr>
            <p:ph type="subTitle" idx="4294967295"/>
          </p:nvPr>
        </p:nvSpPr>
        <p:spPr>
          <a:xfrm>
            <a:off x="4500420" y="3663348"/>
            <a:ext cx="23373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Why vision-based?</a:t>
            </a:r>
            <a:endParaRPr lang="en-US" altLang="en-US" sz="1800" b="1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93" name="Google Shape;193;p23"/>
          <p:cNvSpPr txBox="1"/>
          <p:nvPr>
            <p:ph type="subTitle" idx="4294967295"/>
          </p:nvPr>
        </p:nvSpPr>
        <p:spPr>
          <a:xfrm>
            <a:off x="4500245" y="3958590"/>
            <a:ext cx="2988310" cy="7251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– Cameras are cheaper, always on</a:t>
            </a:r>
            <a:endParaRPr lang="en-US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– Sensors are limited, uncomfortable</a:t>
            </a:r>
            <a:endParaRPr lang="en-US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– Challenge: occlusion &amp; speed</a:t>
            </a:r>
            <a:endParaRPr lang="en-US" altLang="en-US"/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395605" y="1884680"/>
            <a:ext cx="3315970" cy="216408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3868420" y="1635125"/>
            <a:ext cx="631825" cy="64897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3"/>
          <a:stretch>
            <a:fillRect/>
          </a:stretch>
        </p:blipFill>
        <p:spPr>
          <a:xfrm>
            <a:off x="4024630" y="2787015"/>
            <a:ext cx="351155" cy="359410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>
          <a:blip r:embed="rId4"/>
          <a:stretch>
            <a:fillRect/>
          </a:stretch>
        </p:blipFill>
        <p:spPr>
          <a:xfrm>
            <a:off x="4025265" y="3714750"/>
            <a:ext cx="386080" cy="396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0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ym typeface="+mn-ea"/>
              </a:rPr>
              <a:t>Problems in Existing Work</a:t>
            </a:r>
            <a:endParaRPr lang="en-GB"/>
          </a:p>
        </p:txBody>
      </p:sp>
      <p:sp>
        <p:nvSpPr>
          <p:cNvPr id="466" name="Google Shape;466;p30"/>
          <p:cNvSpPr/>
          <p:nvPr/>
        </p:nvSpPr>
        <p:spPr>
          <a:xfrm>
            <a:off x="1188085" y="1671320"/>
            <a:ext cx="574040" cy="563245"/>
          </a:xfrm>
          <a:custGeom>
            <a:avLst/>
            <a:gdLst/>
            <a:ahLst/>
            <a:cxnLst/>
            <a:rect l="l" t="t" r="r" b="b"/>
            <a:pathLst>
              <a:path w="370" h="369" extrusionOk="0">
                <a:moveTo>
                  <a:pt x="0" y="184"/>
                </a:moveTo>
                <a:lnTo>
                  <a:pt x="0" y="184"/>
                </a:lnTo>
                <a:cubicBezTo>
                  <a:pt x="0" y="286"/>
                  <a:pt x="82" y="368"/>
                  <a:pt x="185" y="368"/>
                </a:cubicBezTo>
                <a:lnTo>
                  <a:pt x="185" y="368"/>
                </a:lnTo>
                <a:cubicBezTo>
                  <a:pt x="285" y="368"/>
                  <a:pt x="369" y="286"/>
                  <a:pt x="369" y="184"/>
                </a:cubicBezTo>
                <a:lnTo>
                  <a:pt x="369" y="184"/>
                </a:lnTo>
                <a:cubicBezTo>
                  <a:pt x="369" y="81"/>
                  <a:pt x="285" y="0"/>
                  <a:pt x="185" y="0"/>
                </a:cubicBezTo>
                <a:lnTo>
                  <a:pt x="185" y="0"/>
                </a:lnTo>
                <a:cubicBezTo>
                  <a:pt x="82" y="0"/>
                  <a:pt x="0" y="81"/>
                  <a:pt x="0" y="184"/>
                </a:cubicBezTo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1</a:t>
            </a:r>
            <a:endParaRPr sz="1800">
              <a:solidFill>
                <a:schemeClr val="lt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480" name="Google Shape;480;p30"/>
          <p:cNvSpPr txBox="1"/>
          <p:nvPr>
            <p:ph type="subTitle" idx="4294967295"/>
          </p:nvPr>
        </p:nvSpPr>
        <p:spPr>
          <a:xfrm>
            <a:off x="1907540" y="1743075"/>
            <a:ext cx="5918200" cy="4476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Sensor-based systems:</a:t>
            </a:r>
            <a:r>
              <a:rPr lang="en-US" altLang="en-US" sz="18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expensive, non-scalable</a:t>
            </a:r>
            <a:endParaRPr lang="en-US" altLang="en-US" sz="1800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" name="Google Shape;466;p30"/>
          <p:cNvSpPr/>
          <p:nvPr/>
        </p:nvSpPr>
        <p:spPr>
          <a:xfrm>
            <a:off x="1187450" y="2390775"/>
            <a:ext cx="574040" cy="563245"/>
          </a:xfrm>
          <a:custGeom>
            <a:avLst/>
            <a:gdLst/>
            <a:ahLst/>
            <a:cxnLst/>
            <a:rect l="l" t="t" r="r" b="b"/>
            <a:pathLst>
              <a:path w="370" h="369" extrusionOk="0">
                <a:moveTo>
                  <a:pt x="0" y="184"/>
                </a:moveTo>
                <a:lnTo>
                  <a:pt x="0" y="184"/>
                </a:lnTo>
                <a:cubicBezTo>
                  <a:pt x="0" y="286"/>
                  <a:pt x="82" y="368"/>
                  <a:pt x="185" y="368"/>
                </a:cubicBezTo>
                <a:lnTo>
                  <a:pt x="185" y="368"/>
                </a:lnTo>
                <a:cubicBezTo>
                  <a:pt x="285" y="368"/>
                  <a:pt x="369" y="286"/>
                  <a:pt x="369" y="184"/>
                </a:cubicBezTo>
                <a:lnTo>
                  <a:pt x="369" y="184"/>
                </a:lnTo>
                <a:cubicBezTo>
                  <a:pt x="369" y="81"/>
                  <a:pt x="285" y="0"/>
                  <a:pt x="185" y="0"/>
                </a:cubicBezTo>
                <a:lnTo>
                  <a:pt x="185" y="0"/>
                </a:lnTo>
                <a:cubicBezTo>
                  <a:pt x="82" y="0"/>
                  <a:pt x="0" y="81"/>
                  <a:pt x="0" y="184"/>
                </a:cubicBezTo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2</a:t>
            </a:r>
            <a:endParaRPr lang="en-US" sz="1800">
              <a:solidFill>
                <a:schemeClr val="lt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" name="Google Shape;480;p30"/>
          <p:cNvSpPr txBox="1"/>
          <p:nvPr/>
        </p:nvSpPr>
        <p:spPr>
          <a:xfrm>
            <a:off x="1907540" y="2506345"/>
            <a:ext cx="5918200" cy="44767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Old vision models: </a:t>
            </a:r>
            <a:r>
              <a:rPr lang="en-US" altLang="en-US" sz="18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slow, not real-time</a:t>
            </a:r>
            <a:endParaRPr lang="en-US" altLang="en-US" sz="1800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4" name="Google Shape;466;p30"/>
          <p:cNvSpPr/>
          <p:nvPr/>
        </p:nvSpPr>
        <p:spPr>
          <a:xfrm>
            <a:off x="1187450" y="3110230"/>
            <a:ext cx="574040" cy="563245"/>
          </a:xfrm>
          <a:custGeom>
            <a:avLst/>
            <a:gdLst/>
            <a:ahLst/>
            <a:cxnLst/>
            <a:rect l="l" t="t" r="r" b="b"/>
            <a:pathLst>
              <a:path w="370" h="369" extrusionOk="0">
                <a:moveTo>
                  <a:pt x="0" y="184"/>
                </a:moveTo>
                <a:lnTo>
                  <a:pt x="0" y="184"/>
                </a:lnTo>
                <a:cubicBezTo>
                  <a:pt x="0" y="286"/>
                  <a:pt x="82" y="368"/>
                  <a:pt x="185" y="368"/>
                </a:cubicBezTo>
                <a:lnTo>
                  <a:pt x="185" y="368"/>
                </a:lnTo>
                <a:cubicBezTo>
                  <a:pt x="285" y="368"/>
                  <a:pt x="369" y="286"/>
                  <a:pt x="369" y="184"/>
                </a:cubicBezTo>
                <a:lnTo>
                  <a:pt x="369" y="184"/>
                </a:lnTo>
                <a:cubicBezTo>
                  <a:pt x="369" y="81"/>
                  <a:pt x="285" y="0"/>
                  <a:pt x="185" y="0"/>
                </a:cubicBezTo>
                <a:lnTo>
                  <a:pt x="185" y="0"/>
                </a:lnTo>
                <a:cubicBezTo>
                  <a:pt x="82" y="0"/>
                  <a:pt x="0" y="81"/>
                  <a:pt x="0" y="18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tx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3</a:t>
            </a:r>
            <a:endParaRPr lang="en-US" sz="1800">
              <a:solidFill>
                <a:schemeClr val="tx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5" name="Google Shape;480;p30"/>
          <p:cNvSpPr txBox="1"/>
          <p:nvPr/>
        </p:nvSpPr>
        <p:spPr>
          <a:xfrm>
            <a:off x="1907540" y="3220085"/>
            <a:ext cx="5918200" cy="44767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Occlusion not handled</a:t>
            </a:r>
            <a:endParaRPr lang="en-US" altLang="en-US" sz="1800" b="1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8" name="Google Shape;466;p30"/>
          <p:cNvSpPr/>
          <p:nvPr/>
        </p:nvSpPr>
        <p:spPr>
          <a:xfrm>
            <a:off x="1187450" y="3829685"/>
            <a:ext cx="574040" cy="563245"/>
          </a:xfrm>
          <a:custGeom>
            <a:avLst/>
            <a:gdLst/>
            <a:ahLst/>
            <a:cxnLst/>
            <a:rect l="l" t="t" r="r" b="b"/>
            <a:pathLst>
              <a:path w="370" h="369" extrusionOk="0">
                <a:moveTo>
                  <a:pt x="0" y="184"/>
                </a:moveTo>
                <a:lnTo>
                  <a:pt x="0" y="184"/>
                </a:lnTo>
                <a:cubicBezTo>
                  <a:pt x="0" y="286"/>
                  <a:pt x="82" y="368"/>
                  <a:pt x="185" y="368"/>
                </a:cubicBezTo>
                <a:lnTo>
                  <a:pt x="185" y="368"/>
                </a:lnTo>
                <a:cubicBezTo>
                  <a:pt x="285" y="368"/>
                  <a:pt x="369" y="286"/>
                  <a:pt x="369" y="184"/>
                </a:cubicBezTo>
                <a:lnTo>
                  <a:pt x="369" y="184"/>
                </a:lnTo>
                <a:cubicBezTo>
                  <a:pt x="369" y="81"/>
                  <a:pt x="285" y="0"/>
                  <a:pt x="185" y="0"/>
                </a:cubicBezTo>
                <a:lnTo>
                  <a:pt x="185" y="0"/>
                </a:lnTo>
                <a:cubicBezTo>
                  <a:pt x="82" y="0"/>
                  <a:pt x="0" y="81"/>
                  <a:pt x="0" y="184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tx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4</a:t>
            </a:r>
            <a:endParaRPr lang="en-US" sz="1800">
              <a:solidFill>
                <a:schemeClr val="tx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9" name="Google Shape;480;p30"/>
          <p:cNvSpPr txBox="1"/>
          <p:nvPr/>
        </p:nvSpPr>
        <p:spPr>
          <a:xfrm>
            <a:off x="1907540" y="3939540"/>
            <a:ext cx="5918200" cy="44767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Pre-fall not predicted</a:t>
            </a:r>
            <a:endParaRPr lang="en-US" altLang="en-US" sz="1800" b="1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1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Our Objective</a:t>
            </a:r>
            <a:endParaRPr lang="en-US" altLang="en-US"/>
          </a:p>
        </p:txBody>
      </p:sp>
      <p:sp>
        <p:nvSpPr>
          <p:cNvPr id="508" name="Google Shape;508;p31"/>
          <p:cNvSpPr/>
          <p:nvPr/>
        </p:nvSpPr>
        <p:spPr>
          <a:xfrm>
            <a:off x="840936" y="2762514"/>
            <a:ext cx="400753" cy="400761"/>
          </a:xfrm>
          <a:custGeom>
            <a:avLst/>
            <a:gdLst/>
            <a:ahLst/>
            <a:cxnLst/>
            <a:rect l="l" t="t" r="r" b="b"/>
            <a:pathLst>
              <a:path w="143126" h="143129" extrusionOk="0">
                <a:moveTo>
                  <a:pt x="71821" y="32"/>
                </a:moveTo>
                <a:cubicBezTo>
                  <a:pt x="111468" y="32"/>
                  <a:pt x="143609" y="32174"/>
                  <a:pt x="143609" y="71822"/>
                </a:cubicBezTo>
                <a:cubicBezTo>
                  <a:pt x="143609" y="111470"/>
                  <a:pt x="111468" y="143611"/>
                  <a:pt x="71821" y="143611"/>
                </a:cubicBezTo>
                <a:cubicBezTo>
                  <a:pt x="32173" y="143611"/>
                  <a:pt x="32" y="111470"/>
                  <a:pt x="32" y="71822"/>
                </a:cubicBezTo>
                <a:cubicBezTo>
                  <a:pt x="32" y="32174"/>
                  <a:pt x="32173" y="32"/>
                  <a:pt x="71821" y="32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rPr>
              <a:t>3</a:t>
            </a:r>
            <a:endParaRPr sz="450" b="1">
              <a:solidFill>
                <a:srgbClr val="7C7D7F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509" name="Google Shape;509;p31"/>
          <p:cNvSpPr/>
          <p:nvPr/>
        </p:nvSpPr>
        <p:spPr>
          <a:xfrm>
            <a:off x="843693" y="2127544"/>
            <a:ext cx="400753" cy="400761"/>
          </a:xfrm>
          <a:custGeom>
            <a:avLst/>
            <a:gdLst/>
            <a:ahLst/>
            <a:cxnLst/>
            <a:rect l="l" t="t" r="r" b="b"/>
            <a:pathLst>
              <a:path w="143126" h="143129" extrusionOk="0">
                <a:moveTo>
                  <a:pt x="71821" y="32"/>
                </a:moveTo>
                <a:cubicBezTo>
                  <a:pt x="111468" y="32"/>
                  <a:pt x="143609" y="32174"/>
                  <a:pt x="143609" y="71822"/>
                </a:cubicBezTo>
                <a:cubicBezTo>
                  <a:pt x="143609" y="111470"/>
                  <a:pt x="111468" y="143611"/>
                  <a:pt x="71821" y="143611"/>
                </a:cubicBezTo>
                <a:cubicBezTo>
                  <a:pt x="32173" y="143611"/>
                  <a:pt x="32" y="111470"/>
                  <a:pt x="32" y="71822"/>
                </a:cubicBezTo>
                <a:cubicBezTo>
                  <a:pt x="32" y="32174"/>
                  <a:pt x="32173" y="32"/>
                  <a:pt x="71821" y="32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rPr>
              <a:t>2</a:t>
            </a:r>
            <a:endParaRPr sz="450" b="1">
              <a:solidFill>
                <a:srgbClr val="7C7D7F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510" name="Google Shape;510;p31"/>
          <p:cNvSpPr/>
          <p:nvPr/>
        </p:nvSpPr>
        <p:spPr>
          <a:xfrm>
            <a:off x="859351" y="1491909"/>
            <a:ext cx="400753" cy="400761"/>
          </a:xfrm>
          <a:custGeom>
            <a:avLst/>
            <a:gdLst/>
            <a:ahLst/>
            <a:cxnLst/>
            <a:rect l="l" t="t" r="r" b="b"/>
            <a:pathLst>
              <a:path w="143126" h="143129" extrusionOk="0">
                <a:moveTo>
                  <a:pt x="71821" y="32"/>
                </a:moveTo>
                <a:cubicBezTo>
                  <a:pt x="111468" y="32"/>
                  <a:pt x="143609" y="32174"/>
                  <a:pt x="143609" y="71822"/>
                </a:cubicBezTo>
                <a:cubicBezTo>
                  <a:pt x="143609" y="111470"/>
                  <a:pt x="111468" y="143611"/>
                  <a:pt x="71821" y="143611"/>
                </a:cubicBezTo>
                <a:cubicBezTo>
                  <a:pt x="32173" y="143611"/>
                  <a:pt x="32" y="111470"/>
                  <a:pt x="32" y="71822"/>
                </a:cubicBezTo>
                <a:cubicBezTo>
                  <a:pt x="32" y="32174"/>
                  <a:pt x="32173" y="32"/>
                  <a:pt x="71821" y="32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rPr>
              <a:t>1</a:t>
            </a:r>
            <a:endParaRPr sz="450" b="1">
              <a:solidFill>
                <a:srgbClr val="7C7D7F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513" name="Google Shape;513;p31"/>
          <p:cNvSpPr txBox="1"/>
          <p:nvPr>
            <p:ph type="subTitle" idx="4294967295"/>
          </p:nvPr>
        </p:nvSpPr>
        <p:spPr>
          <a:xfrm>
            <a:off x="1259840" y="1491615"/>
            <a:ext cx="2157095" cy="447675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Real-time detection</a:t>
            </a:r>
            <a:endParaRPr lang="en-US" altLang="en-US" sz="1400" b="1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514" name="Google Shape;514;p31"/>
          <p:cNvSpPr txBox="1"/>
          <p:nvPr>
            <p:ph type="subTitle" idx="4294967295"/>
          </p:nvPr>
        </p:nvSpPr>
        <p:spPr>
          <a:xfrm>
            <a:off x="1259840" y="2733040"/>
            <a:ext cx="3896995" cy="447675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Predict fall before it happens (Pre-fall)</a:t>
            </a:r>
            <a:endParaRPr lang="en-US" altLang="en-US" sz="1400" b="1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516" name="Google Shape;516;p31"/>
          <p:cNvSpPr txBox="1"/>
          <p:nvPr>
            <p:ph type="subTitle" idx="4294967295"/>
          </p:nvPr>
        </p:nvSpPr>
        <p:spPr>
          <a:xfrm>
            <a:off x="1259840" y="2082165"/>
            <a:ext cx="2696845" cy="447675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Handle occlusion</a:t>
            </a:r>
            <a:endParaRPr lang="en-US" altLang="en-US" sz="1400" b="1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5" name="Google Shape;508;p31"/>
          <p:cNvSpPr/>
          <p:nvPr/>
        </p:nvSpPr>
        <p:spPr>
          <a:xfrm>
            <a:off x="849191" y="3363224"/>
            <a:ext cx="400753" cy="400761"/>
          </a:xfrm>
          <a:custGeom>
            <a:avLst/>
            <a:gdLst/>
            <a:ahLst/>
            <a:cxnLst/>
            <a:rect l="l" t="t" r="r" b="b"/>
            <a:pathLst>
              <a:path w="143126" h="143129" extrusionOk="0">
                <a:moveTo>
                  <a:pt x="71821" y="32"/>
                </a:moveTo>
                <a:cubicBezTo>
                  <a:pt x="111468" y="32"/>
                  <a:pt x="143609" y="32174"/>
                  <a:pt x="143609" y="71822"/>
                </a:cubicBezTo>
                <a:cubicBezTo>
                  <a:pt x="143609" y="111470"/>
                  <a:pt x="111468" y="143611"/>
                  <a:pt x="71821" y="143611"/>
                </a:cubicBezTo>
                <a:cubicBezTo>
                  <a:pt x="32173" y="143611"/>
                  <a:pt x="32" y="111470"/>
                  <a:pt x="32" y="71822"/>
                </a:cubicBezTo>
                <a:cubicBezTo>
                  <a:pt x="32" y="32174"/>
                  <a:pt x="32173" y="32"/>
                  <a:pt x="71821" y="32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rPr>
              <a:t>4</a:t>
            </a:r>
            <a:endParaRPr lang="en-US" altLang="en-GB">
              <a:solidFill>
                <a:schemeClr val="dk1"/>
              </a:solidFill>
              <a:latin typeface="Didact Gothic" panose="00000500000000000000"/>
              <a:ea typeface="Didact Gothic" panose="00000500000000000000"/>
              <a:cs typeface="Didact Gothic" panose="00000500000000000000"/>
              <a:sym typeface="Didact Gothic" panose="000005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GB" sz="450" b="1">
              <a:solidFill>
                <a:schemeClr val="dk1"/>
              </a:solidFill>
              <a:latin typeface="Didact Gothic" panose="00000500000000000000"/>
              <a:ea typeface="Didact Gothic" panose="00000500000000000000"/>
              <a:cs typeface="Didact Gothic" panose="00000500000000000000"/>
              <a:sym typeface="Didact Gothic" panose="00000500000000000000"/>
            </a:endParaRPr>
          </a:p>
        </p:txBody>
      </p:sp>
      <p:sp>
        <p:nvSpPr>
          <p:cNvPr id="2" name="Google Shape;514;p31"/>
          <p:cNvSpPr txBox="1"/>
          <p:nvPr/>
        </p:nvSpPr>
        <p:spPr>
          <a:xfrm>
            <a:off x="1249680" y="3362960"/>
            <a:ext cx="3253740" cy="44767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Estimate time-to-fall (regression)</a:t>
            </a:r>
            <a:endParaRPr lang="en-US" altLang="en-US" sz="1400" b="1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" name="Google Shape;508;p31"/>
          <p:cNvSpPr/>
          <p:nvPr/>
        </p:nvSpPr>
        <p:spPr>
          <a:xfrm>
            <a:off x="859351" y="3956314"/>
            <a:ext cx="400753" cy="400761"/>
          </a:xfrm>
          <a:custGeom>
            <a:avLst/>
            <a:gdLst/>
            <a:ahLst/>
            <a:cxnLst/>
            <a:rect l="l" t="t" r="r" b="b"/>
            <a:pathLst>
              <a:path w="143126" h="143129" extrusionOk="0">
                <a:moveTo>
                  <a:pt x="71821" y="32"/>
                </a:moveTo>
                <a:cubicBezTo>
                  <a:pt x="111468" y="32"/>
                  <a:pt x="143609" y="32174"/>
                  <a:pt x="143609" y="71822"/>
                </a:cubicBezTo>
                <a:cubicBezTo>
                  <a:pt x="143609" y="111470"/>
                  <a:pt x="111468" y="143611"/>
                  <a:pt x="71821" y="143611"/>
                </a:cubicBezTo>
                <a:cubicBezTo>
                  <a:pt x="32173" y="143611"/>
                  <a:pt x="32" y="111470"/>
                  <a:pt x="32" y="71822"/>
                </a:cubicBezTo>
                <a:cubicBezTo>
                  <a:pt x="32" y="32174"/>
                  <a:pt x="32173" y="32"/>
                  <a:pt x="71821" y="32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rPr>
              <a:t>5</a:t>
            </a:r>
            <a:endParaRPr lang="en-US" altLang="en-GB" sz="450" b="1">
              <a:solidFill>
                <a:schemeClr val="dk1"/>
              </a:solidFill>
              <a:latin typeface="Didact Gothic" panose="00000500000000000000"/>
              <a:ea typeface="Didact Gothic" panose="00000500000000000000"/>
              <a:cs typeface="Didact Gothic" panose="00000500000000000000"/>
              <a:sym typeface="Didact Gothic" panose="00000500000000000000"/>
            </a:endParaRPr>
          </a:p>
        </p:txBody>
      </p:sp>
      <p:sp>
        <p:nvSpPr>
          <p:cNvPr id="4" name="Google Shape;514;p31"/>
          <p:cNvSpPr txBox="1"/>
          <p:nvPr/>
        </p:nvSpPr>
        <p:spPr>
          <a:xfrm>
            <a:off x="1259840" y="3956050"/>
            <a:ext cx="3253740" cy="44767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Edge-compatible (Jetson, etc.)</a:t>
            </a:r>
            <a:endParaRPr lang="en-US" altLang="en-US" sz="1400" b="1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8" name="Picture 7"/>
          <p:cNvPicPr/>
          <p:nvPr/>
        </p:nvPicPr>
        <p:blipFill>
          <a:blip r:embed="rId1"/>
          <a:stretch>
            <a:fillRect/>
          </a:stretch>
        </p:blipFill>
        <p:spPr>
          <a:xfrm>
            <a:off x="6346190" y="2139315"/>
            <a:ext cx="1793240" cy="14198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1" name="Google Shape;621;p34"/>
          <p:cNvCxnSpPr>
            <a:endCxn id="622" idx="2"/>
          </p:cNvCxnSpPr>
          <p:nvPr/>
        </p:nvCxnSpPr>
        <p:spPr>
          <a:xfrm rot="10800000" flipH="1">
            <a:off x="6645025" y="4220417"/>
            <a:ext cx="1185900" cy="7281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3" name="Google Shape;623;p34"/>
          <p:cNvCxnSpPr>
            <a:endCxn id="624" idx="2"/>
          </p:cNvCxnSpPr>
          <p:nvPr/>
        </p:nvCxnSpPr>
        <p:spPr>
          <a:xfrm rot="10800000">
            <a:off x="1319850" y="4220417"/>
            <a:ext cx="1193400" cy="7191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5" name="Google Shape;625;p34"/>
          <p:cNvCxnSpPr>
            <a:stCxn id="626" idx="2"/>
          </p:cNvCxnSpPr>
          <p:nvPr/>
        </p:nvCxnSpPr>
        <p:spPr>
          <a:xfrm rot="-5400000" flipH="1">
            <a:off x="2375188" y="3447767"/>
            <a:ext cx="667200" cy="5139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7" name="Google Shape;627;p34"/>
          <p:cNvCxnSpPr>
            <a:stCxn id="628" idx="2"/>
          </p:cNvCxnSpPr>
          <p:nvPr/>
        </p:nvCxnSpPr>
        <p:spPr>
          <a:xfrm rot="5400000">
            <a:off x="6112500" y="3456017"/>
            <a:ext cx="694500" cy="5247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9" name="Google Shape;629;p34"/>
          <p:cNvCxnSpPr>
            <a:stCxn id="630" idx="2"/>
          </p:cNvCxnSpPr>
          <p:nvPr/>
        </p:nvCxnSpPr>
        <p:spPr>
          <a:xfrm rot="-5400000" flipH="1">
            <a:off x="3289650" y="2766617"/>
            <a:ext cx="952200" cy="462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1" name="Google Shape;631;p34"/>
          <p:cNvCxnSpPr>
            <a:stCxn id="632" idx="2"/>
          </p:cNvCxnSpPr>
          <p:nvPr/>
        </p:nvCxnSpPr>
        <p:spPr>
          <a:xfrm rot="5400000">
            <a:off x="4934750" y="2774717"/>
            <a:ext cx="942900" cy="4371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3" name="Google Shape;633;p3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System Overview Diagram</a:t>
            </a:r>
            <a:endParaRPr lang="en-US" altLang="en-US"/>
          </a:p>
        </p:txBody>
      </p:sp>
      <p:sp>
        <p:nvSpPr>
          <p:cNvPr id="634" name="Google Shape;634;p34"/>
          <p:cNvSpPr/>
          <p:nvPr/>
        </p:nvSpPr>
        <p:spPr>
          <a:xfrm>
            <a:off x="6106865" y="4239475"/>
            <a:ext cx="717396" cy="903954"/>
          </a:xfrm>
          <a:custGeom>
            <a:avLst/>
            <a:gdLst/>
            <a:ahLst/>
            <a:cxnLst/>
            <a:rect l="l" t="t" r="r" b="b"/>
            <a:pathLst>
              <a:path w="45484" h="57312" extrusionOk="0">
                <a:moveTo>
                  <a:pt x="30704" y="0"/>
                </a:moveTo>
                <a:lnTo>
                  <a:pt x="0" y="13745"/>
                </a:lnTo>
                <a:cubicBezTo>
                  <a:pt x="6979" y="27270"/>
                  <a:pt x="11042" y="42111"/>
                  <a:pt x="11917" y="57311"/>
                </a:cubicBezTo>
                <a:lnTo>
                  <a:pt x="45484" y="57311"/>
                </a:lnTo>
                <a:cubicBezTo>
                  <a:pt x="44594" y="37118"/>
                  <a:pt x="39525" y="17683"/>
                  <a:pt x="307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5" name="Google Shape;635;p34"/>
          <p:cNvSpPr/>
          <p:nvPr/>
        </p:nvSpPr>
        <p:spPr>
          <a:xfrm>
            <a:off x="5478077" y="3334802"/>
            <a:ext cx="1113018" cy="1121409"/>
          </a:xfrm>
          <a:custGeom>
            <a:avLst/>
            <a:gdLst/>
            <a:ahLst/>
            <a:cxnLst/>
            <a:rect l="l" t="t" r="r" b="b"/>
            <a:pathLst>
              <a:path w="70567" h="71099" extrusionOk="0">
                <a:moveTo>
                  <a:pt x="18573" y="1"/>
                </a:moveTo>
                <a:lnTo>
                  <a:pt x="0" y="28008"/>
                </a:lnTo>
                <a:cubicBezTo>
                  <a:pt x="16938" y="38505"/>
                  <a:pt x="30711" y="53395"/>
                  <a:pt x="39863" y="71098"/>
                </a:cubicBezTo>
                <a:lnTo>
                  <a:pt x="70567" y="57353"/>
                </a:lnTo>
                <a:cubicBezTo>
                  <a:pt x="63753" y="43719"/>
                  <a:pt x="54712" y="31125"/>
                  <a:pt x="43629" y="20042"/>
                </a:cubicBezTo>
                <a:cubicBezTo>
                  <a:pt x="36049" y="12449"/>
                  <a:pt x="27642" y="5725"/>
                  <a:pt x="1857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6" name="Google Shape;636;p34"/>
          <p:cNvSpPr/>
          <p:nvPr/>
        </p:nvSpPr>
        <p:spPr>
          <a:xfrm>
            <a:off x="4574716" y="2990508"/>
            <a:ext cx="1196234" cy="786038"/>
          </a:xfrm>
          <a:custGeom>
            <a:avLst/>
            <a:gdLst/>
            <a:ahLst/>
            <a:cxnLst/>
            <a:rect l="l" t="t" r="r" b="b"/>
            <a:pathLst>
              <a:path w="75843" h="49836" extrusionOk="0">
                <a:moveTo>
                  <a:pt x="0" y="0"/>
                </a:moveTo>
                <a:lnTo>
                  <a:pt x="0" y="33518"/>
                </a:lnTo>
                <a:cubicBezTo>
                  <a:pt x="20987" y="33552"/>
                  <a:pt x="40615" y="39518"/>
                  <a:pt x="57270" y="49835"/>
                </a:cubicBezTo>
                <a:lnTo>
                  <a:pt x="75843" y="21828"/>
                </a:lnTo>
                <a:cubicBezTo>
                  <a:pt x="53339" y="7641"/>
                  <a:pt x="27256" y="2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7" name="Google Shape;637;p34"/>
          <p:cNvSpPr/>
          <p:nvPr/>
        </p:nvSpPr>
        <p:spPr>
          <a:xfrm>
            <a:off x="3374903" y="2990508"/>
            <a:ext cx="1199735" cy="784950"/>
          </a:xfrm>
          <a:custGeom>
            <a:avLst/>
            <a:gdLst/>
            <a:ahLst/>
            <a:cxnLst/>
            <a:rect l="l" t="t" r="r" b="b"/>
            <a:pathLst>
              <a:path w="76065" h="49767" extrusionOk="0">
                <a:moveTo>
                  <a:pt x="75892" y="0"/>
                </a:moveTo>
                <a:cubicBezTo>
                  <a:pt x="48629" y="0"/>
                  <a:pt x="22525" y="7579"/>
                  <a:pt x="1" y="21745"/>
                </a:cubicBezTo>
                <a:lnTo>
                  <a:pt x="18574" y="49766"/>
                </a:lnTo>
                <a:cubicBezTo>
                  <a:pt x="35250" y="39463"/>
                  <a:pt x="54898" y="33518"/>
                  <a:pt x="75892" y="33518"/>
                </a:cubicBezTo>
                <a:lnTo>
                  <a:pt x="76064" y="33518"/>
                </a:lnTo>
                <a:lnTo>
                  <a:pt x="7606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8" name="Google Shape;638;p34"/>
          <p:cNvSpPr/>
          <p:nvPr/>
        </p:nvSpPr>
        <p:spPr>
          <a:xfrm>
            <a:off x="2553360" y="3333508"/>
            <a:ext cx="1114438" cy="1121835"/>
          </a:xfrm>
          <a:custGeom>
            <a:avLst/>
            <a:gdLst/>
            <a:ahLst/>
            <a:cxnLst/>
            <a:rect l="l" t="t" r="r" b="b"/>
            <a:pathLst>
              <a:path w="70657" h="71126" extrusionOk="0">
                <a:moveTo>
                  <a:pt x="52084" y="0"/>
                </a:moveTo>
                <a:cubicBezTo>
                  <a:pt x="42959" y="5745"/>
                  <a:pt x="34518" y="12490"/>
                  <a:pt x="26904" y="20124"/>
                </a:cubicBezTo>
                <a:cubicBezTo>
                  <a:pt x="15828" y="31194"/>
                  <a:pt x="6800" y="43759"/>
                  <a:pt x="0" y="57373"/>
                </a:cubicBezTo>
                <a:lnTo>
                  <a:pt x="30704" y="71125"/>
                </a:lnTo>
                <a:cubicBezTo>
                  <a:pt x="39870" y="53401"/>
                  <a:pt x="53677" y="38504"/>
                  <a:pt x="70657" y="28021"/>
                </a:cubicBezTo>
                <a:lnTo>
                  <a:pt x="520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9" name="Google Shape;639;p34"/>
          <p:cNvSpPr/>
          <p:nvPr/>
        </p:nvSpPr>
        <p:spPr>
          <a:xfrm>
            <a:off x="2319688" y="4238497"/>
            <a:ext cx="717948" cy="904821"/>
          </a:xfrm>
          <a:custGeom>
            <a:avLst/>
            <a:gdLst/>
            <a:ahLst/>
            <a:cxnLst/>
            <a:rect l="l" t="t" r="r" b="b"/>
            <a:pathLst>
              <a:path w="45519" h="57367" extrusionOk="0">
                <a:moveTo>
                  <a:pt x="14814" y="0"/>
                </a:moveTo>
                <a:cubicBezTo>
                  <a:pt x="5966" y="17697"/>
                  <a:pt x="890" y="37152"/>
                  <a:pt x="0" y="57366"/>
                </a:cubicBezTo>
                <a:lnTo>
                  <a:pt x="33566" y="57366"/>
                </a:lnTo>
                <a:cubicBezTo>
                  <a:pt x="34442" y="42152"/>
                  <a:pt x="38511" y="27283"/>
                  <a:pt x="45518" y="13745"/>
                </a:cubicBezTo>
                <a:lnTo>
                  <a:pt x="1481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40" name="Google Shape;640;p34"/>
          <p:cNvSpPr txBox="1"/>
          <p:nvPr>
            <p:ph type="subTitle" idx="4294967295"/>
          </p:nvPr>
        </p:nvSpPr>
        <p:spPr>
          <a:xfrm>
            <a:off x="709205" y="3767992"/>
            <a:ext cx="1199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Frame</a:t>
            </a:r>
            <a:endParaRPr lang="en-US" altLang="en-US" sz="1400" b="1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641" name="Google Shape;641;p34"/>
          <p:cNvSpPr txBox="1"/>
          <p:nvPr>
            <p:ph type="subTitle" idx="4294967295"/>
          </p:nvPr>
        </p:nvSpPr>
        <p:spPr>
          <a:xfrm>
            <a:off x="6948170" y="3816985"/>
            <a:ext cx="1661795" cy="4476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Classification + Regression</a:t>
            </a:r>
            <a:endParaRPr sz="1400" b="1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642" name="Google Shape;642;p34"/>
          <p:cNvSpPr txBox="1"/>
          <p:nvPr>
            <p:ph type="subTitle" idx="4294967295"/>
          </p:nvPr>
        </p:nvSpPr>
        <p:spPr>
          <a:xfrm>
            <a:off x="1961515" y="2931795"/>
            <a:ext cx="981710" cy="4476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YOLOv8</a:t>
            </a:r>
            <a:endParaRPr lang="en-US" altLang="en-US" sz="1400" b="1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pose</a:t>
            </a:r>
            <a:endParaRPr lang="en-US" altLang="en-US" sz="1400" b="1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643" name="Google Shape;643;p34"/>
          <p:cNvSpPr txBox="1"/>
          <p:nvPr>
            <p:ph type="subTitle" idx="4294967295"/>
          </p:nvPr>
        </p:nvSpPr>
        <p:spPr>
          <a:xfrm>
            <a:off x="5652135" y="2945765"/>
            <a:ext cx="2082165" cy="4476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Transformer</a:t>
            </a:r>
            <a:endParaRPr lang="en-US" altLang="en-US" sz="1400" b="1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644" name="Google Shape;644;p34"/>
          <p:cNvSpPr txBox="1"/>
          <p:nvPr>
            <p:ph type="subTitle" idx="4294967295"/>
          </p:nvPr>
        </p:nvSpPr>
        <p:spPr>
          <a:xfrm>
            <a:off x="2823210" y="2139950"/>
            <a:ext cx="1442085" cy="46736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Pose Completion</a:t>
            </a:r>
            <a:endParaRPr lang="en-US" altLang="en-US" sz="1400" b="1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645" name="Google Shape;645;p34"/>
          <p:cNvSpPr txBox="1"/>
          <p:nvPr>
            <p:ph type="subTitle" idx="4294967295"/>
          </p:nvPr>
        </p:nvSpPr>
        <p:spPr>
          <a:xfrm>
            <a:off x="4813935" y="2074545"/>
            <a:ext cx="1650365" cy="4476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CNN </a:t>
            </a:r>
            <a:endParaRPr lang="en-US" altLang="en-US" sz="1400" b="1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646" name="Google Shape;646;p34"/>
          <p:cNvSpPr/>
          <p:nvPr/>
        </p:nvSpPr>
        <p:spPr>
          <a:xfrm>
            <a:off x="4120988" y="4005625"/>
            <a:ext cx="903900" cy="903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idact Gothic" panose="00000500000000000000"/>
              <a:ea typeface="Didact Gothic" panose="00000500000000000000"/>
              <a:cs typeface="Didact Gothic" panose="00000500000000000000"/>
              <a:sym typeface="Didact Gothic" panose="00000500000000000000"/>
            </a:endParaRPr>
          </a:p>
        </p:txBody>
      </p:sp>
      <p:sp>
        <p:nvSpPr>
          <p:cNvPr id="654" name="Google Shape;654;p34"/>
          <p:cNvSpPr/>
          <p:nvPr/>
        </p:nvSpPr>
        <p:spPr>
          <a:xfrm>
            <a:off x="1100138" y="3393660"/>
            <a:ext cx="417841" cy="417347"/>
          </a:xfrm>
          <a:custGeom>
            <a:avLst/>
            <a:gdLst/>
            <a:ahLst/>
            <a:cxnLst/>
            <a:rect l="l" t="t" r="r" b="b"/>
            <a:pathLst>
              <a:path w="3169" h="3167" extrusionOk="0">
                <a:moveTo>
                  <a:pt x="1584" y="1"/>
                </a:moveTo>
                <a:cubicBezTo>
                  <a:pt x="710" y="1"/>
                  <a:pt x="1" y="709"/>
                  <a:pt x="1" y="1583"/>
                </a:cubicBezTo>
                <a:cubicBezTo>
                  <a:pt x="1" y="2457"/>
                  <a:pt x="710" y="3167"/>
                  <a:pt x="1584" y="3167"/>
                </a:cubicBezTo>
                <a:cubicBezTo>
                  <a:pt x="2459" y="3167"/>
                  <a:pt x="3168" y="2457"/>
                  <a:pt x="3168" y="1583"/>
                </a:cubicBezTo>
                <a:cubicBezTo>
                  <a:pt x="3168" y="709"/>
                  <a:pt x="2459" y="1"/>
                  <a:pt x="15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55" name="Google Shape;655;p34"/>
          <p:cNvSpPr/>
          <p:nvPr/>
        </p:nvSpPr>
        <p:spPr>
          <a:xfrm>
            <a:off x="2242921" y="2362925"/>
            <a:ext cx="417841" cy="417347"/>
          </a:xfrm>
          <a:custGeom>
            <a:avLst/>
            <a:gdLst/>
            <a:ahLst/>
            <a:cxnLst/>
            <a:rect l="l" t="t" r="r" b="b"/>
            <a:pathLst>
              <a:path w="3169" h="3167" extrusionOk="0">
                <a:moveTo>
                  <a:pt x="1584" y="1"/>
                </a:moveTo>
                <a:cubicBezTo>
                  <a:pt x="710" y="1"/>
                  <a:pt x="1" y="709"/>
                  <a:pt x="1" y="1583"/>
                </a:cubicBezTo>
                <a:cubicBezTo>
                  <a:pt x="1" y="2457"/>
                  <a:pt x="710" y="3167"/>
                  <a:pt x="1584" y="3167"/>
                </a:cubicBezTo>
                <a:cubicBezTo>
                  <a:pt x="2459" y="3167"/>
                  <a:pt x="3168" y="2457"/>
                  <a:pt x="3168" y="1583"/>
                </a:cubicBezTo>
                <a:cubicBezTo>
                  <a:pt x="3168" y="709"/>
                  <a:pt x="2459" y="1"/>
                  <a:pt x="158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56" name="Google Shape;656;p34"/>
          <p:cNvSpPr/>
          <p:nvPr/>
        </p:nvSpPr>
        <p:spPr>
          <a:xfrm>
            <a:off x="3325533" y="1607605"/>
            <a:ext cx="417841" cy="417347"/>
          </a:xfrm>
          <a:custGeom>
            <a:avLst/>
            <a:gdLst/>
            <a:ahLst/>
            <a:cxnLst/>
            <a:rect l="l" t="t" r="r" b="b"/>
            <a:pathLst>
              <a:path w="3169" h="3167" extrusionOk="0">
                <a:moveTo>
                  <a:pt x="1584" y="1"/>
                </a:moveTo>
                <a:cubicBezTo>
                  <a:pt x="710" y="1"/>
                  <a:pt x="1" y="709"/>
                  <a:pt x="1" y="1583"/>
                </a:cubicBezTo>
                <a:cubicBezTo>
                  <a:pt x="1" y="2457"/>
                  <a:pt x="710" y="3167"/>
                  <a:pt x="1584" y="3167"/>
                </a:cubicBezTo>
                <a:cubicBezTo>
                  <a:pt x="2459" y="3167"/>
                  <a:pt x="3168" y="2457"/>
                  <a:pt x="3168" y="1583"/>
                </a:cubicBezTo>
                <a:cubicBezTo>
                  <a:pt x="3168" y="709"/>
                  <a:pt x="2459" y="1"/>
                  <a:pt x="158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57" name="Google Shape;657;p34"/>
          <p:cNvSpPr/>
          <p:nvPr/>
        </p:nvSpPr>
        <p:spPr>
          <a:xfrm>
            <a:off x="5436153" y="1707300"/>
            <a:ext cx="417841" cy="417347"/>
          </a:xfrm>
          <a:custGeom>
            <a:avLst/>
            <a:gdLst/>
            <a:ahLst/>
            <a:cxnLst/>
            <a:rect l="l" t="t" r="r" b="b"/>
            <a:pathLst>
              <a:path w="3169" h="3167" extrusionOk="0">
                <a:moveTo>
                  <a:pt x="1584" y="1"/>
                </a:moveTo>
                <a:cubicBezTo>
                  <a:pt x="710" y="1"/>
                  <a:pt x="1" y="709"/>
                  <a:pt x="1" y="1583"/>
                </a:cubicBezTo>
                <a:cubicBezTo>
                  <a:pt x="1" y="2457"/>
                  <a:pt x="710" y="3167"/>
                  <a:pt x="1584" y="3167"/>
                </a:cubicBezTo>
                <a:cubicBezTo>
                  <a:pt x="2459" y="3167"/>
                  <a:pt x="3168" y="2457"/>
                  <a:pt x="3168" y="1583"/>
                </a:cubicBezTo>
                <a:cubicBezTo>
                  <a:pt x="3168" y="709"/>
                  <a:pt x="2459" y="1"/>
                  <a:pt x="15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58" name="Google Shape;658;p34"/>
          <p:cNvSpPr/>
          <p:nvPr/>
        </p:nvSpPr>
        <p:spPr>
          <a:xfrm>
            <a:off x="6513183" y="2573110"/>
            <a:ext cx="417841" cy="417347"/>
          </a:xfrm>
          <a:custGeom>
            <a:avLst/>
            <a:gdLst/>
            <a:ahLst/>
            <a:cxnLst/>
            <a:rect l="l" t="t" r="r" b="b"/>
            <a:pathLst>
              <a:path w="3169" h="3167" extrusionOk="0">
                <a:moveTo>
                  <a:pt x="1584" y="1"/>
                </a:moveTo>
                <a:cubicBezTo>
                  <a:pt x="710" y="1"/>
                  <a:pt x="1" y="709"/>
                  <a:pt x="1" y="1583"/>
                </a:cubicBezTo>
                <a:cubicBezTo>
                  <a:pt x="1" y="2457"/>
                  <a:pt x="710" y="3167"/>
                  <a:pt x="1584" y="3167"/>
                </a:cubicBezTo>
                <a:cubicBezTo>
                  <a:pt x="2459" y="3167"/>
                  <a:pt x="3168" y="2457"/>
                  <a:pt x="3168" y="1583"/>
                </a:cubicBezTo>
                <a:cubicBezTo>
                  <a:pt x="3168" y="709"/>
                  <a:pt x="2459" y="1"/>
                  <a:pt x="158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59" name="Google Shape;659;p34"/>
          <p:cNvSpPr/>
          <p:nvPr/>
        </p:nvSpPr>
        <p:spPr>
          <a:xfrm>
            <a:off x="7553428" y="3219670"/>
            <a:ext cx="417841" cy="417347"/>
          </a:xfrm>
          <a:custGeom>
            <a:avLst/>
            <a:gdLst/>
            <a:ahLst/>
            <a:cxnLst/>
            <a:rect l="l" t="t" r="r" b="b"/>
            <a:pathLst>
              <a:path w="3169" h="3167" extrusionOk="0">
                <a:moveTo>
                  <a:pt x="1584" y="1"/>
                </a:moveTo>
                <a:cubicBezTo>
                  <a:pt x="710" y="1"/>
                  <a:pt x="1" y="709"/>
                  <a:pt x="1" y="1583"/>
                </a:cubicBezTo>
                <a:cubicBezTo>
                  <a:pt x="1" y="2457"/>
                  <a:pt x="710" y="3167"/>
                  <a:pt x="1584" y="3167"/>
                </a:cubicBezTo>
                <a:cubicBezTo>
                  <a:pt x="2459" y="3167"/>
                  <a:pt x="3168" y="2457"/>
                  <a:pt x="3168" y="1583"/>
                </a:cubicBezTo>
                <a:cubicBezTo>
                  <a:pt x="3168" y="709"/>
                  <a:pt x="2459" y="1"/>
                  <a:pt x="15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6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" name="Picture 0"/>
          <p:cNvPicPr/>
          <p:nvPr/>
        </p:nvPicPr>
        <p:blipFill>
          <a:blip r:embed="rId1"/>
          <a:stretch>
            <a:fillRect/>
          </a:stretch>
        </p:blipFill>
        <p:spPr>
          <a:xfrm>
            <a:off x="4265295" y="4093845"/>
            <a:ext cx="720090" cy="7277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Dataset Use</a:t>
            </a:r>
            <a:endParaRPr lang="en-US" altLang="en-GB" b="0"/>
          </a:p>
        </p:txBody>
      </p:sp>
      <p:sp>
        <p:nvSpPr>
          <p:cNvPr id="201" name="Google Shape;201;p24"/>
          <p:cNvSpPr txBox="1"/>
          <p:nvPr/>
        </p:nvSpPr>
        <p:spPr>
          <a:xfrm>
            <a:off x="406970" y="7402500"/>
            <a:ext cx="24285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1.5BN People</a:t>
            </a:r>
            <a:endParaRPr lang="en-GB" sz="15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People who get and Engineering degree around the world</a:t>
            </a:r>
            <a:endParaRPr lang="en-GB"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24"/>
          <p:cNvSpPr txBox="1"/>
          <p:nvPr/>
        </p:nvSpPr>
        <p:spPr>
          <a:xfrm>
            <a:off x="3690358" y="7402500"/>
            <a:ext cx="1802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553MN People</a:t>
            </a:r>
            <a:endParaRPr lang="en-GB" sz="15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People who live in underdeveloped country</a:t>
            </a:r>
            <a:endParaRPr lang="en-GB"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25"/>
          <p:cNvSpPr txBox="1"/>
          <p:nvPr>
            <p:ph type="subTitle" idx="4294967295"/>
          </p:nvPr>
        </p:nvSpPr>
        <p:spPr>
          <a:xfrm>
            <a:off x="720090" y="1881505"/>
            <a:ext cx="2286635" cy="7067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b="1"/>
              <a:t>Publicly available</a:t>
            </a:r>
            <a:endParaRPr lang="en-US" altLang="en-US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17-folders, one per subject:</a:t>
            </a:r>
            <a:endParaRPr lang="en-US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11-subfolders, one per activity:</a:t>
            </a:r>
            <a:endParaRPr lang="en-US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/>
          </a:p>
        </p:txBody>
      </p:sp>
      <p:sp>
        <p:nvSpPr>
          <p:cNvPr id="232" name="Google Shape;232;p25"/>
          <p:cNvSpPr txBox="1"/>
          <p:nvPr/>
        </p:nvSpPr>
        <p:spPr>
          <a:xfrm>
            <a:off x="696595" y="1563370"/>
            <a:ext cx="2750185" cy="44767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UP-Fall - only frames</a:t>
            </a:r>
            <a:endParaRPr lang="en-US" altLang="en-US" sz="1800" b="1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" name="Google Shape;230;p25"/>
          <p:cNvSpPr txBox="1"/>
          <p:nvPr/>
        </p:nvSpPr>
        <p:spPr>
          <a:xfrm>
            <a:off x="4715510" y="1881505"/>
            <a:ext cx="3825240" cy="150939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Multiple people in a frame (multi-person scenarios)</a:t>
            </a:r>
            <a:endParaRPr lang="en-US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PPE gear (helmets, vests, etc.)</a:t>
            </a:r>
            <a:endParaRPr lang="en-US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Various fall types with occlusion</a:t>
            </a:r>
            <a:endParaRPr lang="en-US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Pre-fall behavior recorded explicitly</a:t>
            </a:r>
            <a:endParaRPr lang="en-US" altLang="en-US"/>
          </a:p>
        </p:txBody>
      </p:sp>
      <p:sp>
        <p:nvSpPr>
          <p:cNvPr id="2" name="Google Shape;232;p25"/>
          <p:cNvSpPr txBox="1"/>
          <p:nvPr/>
        </p:nvSpPr>
        <p:spPr>
          <a:xfrm>
            <a:off x="4715510" y="1550035"/>
            <a:ext cx="2891790" cy="44767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Custom video dataset</a:t>
            </a:r>
            <a:endParaRPr lang="en-US" altLang="en-US" sz="1800" b="1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4" name="Picture 3" descr="2018-07-06T10_41_10.39906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95" y="3075940"/>
            <a:ext cx="1735455" cy="1301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Pose Completion</a:t>
            </a:r>
            <a:endParaRPr lang="en-US" alt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2045" y="1491615"/>
            <a:ext cx="3616325" cy="2875915"/>
          </a:xfrm>
          <a:prstGeom prst="rect">
            <a:avLst/>
          </a:prstGeom>
        </p:spPr>
      </p:pic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539115" y="1491615"/>
            <a:ext cx="3957320" cy="2860675"/>
          </a:xfrm>
          <a:prstGeom prst="rect">
            <a:avLst/>
          </a:prstGeom>
        </p:spPr>
      </p:pic>
      <p:sp>
        <p:nvSpPr>
          <p:cNvPr id="4" name="Google Shape;233;p25"/>
          <p:cNvSpPr txBox="1"/>
          <p:nvPr>
            <p:ph type="subTitle" idx="4294967295"/>
          </p:nvPr>
        </p:nvSpPr>
        <p:spPr>
          <a:xfrm>
            <a:off x="395605" y="4371340"/>
            <a:ext cx="8557260" cy="4476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100" b="1">
                <a:solidFill>
                  <a:srgbClr val="FF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Problem: </a:t>
            </a:r>
            <a:r>
              <a:rPr lang="en-US" altLang="en-US" sz="11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Occlusion = missing joints</a:t>
            </a:r>
            <a:r>
              <a:rPr lang="en-US" altLang="en-US" sz="11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     </a:t>
            </a:r>
            <a:r>
              <a:rPr lang="en-US" altLang="en-US" sz="1100" b="1">
                <a:solidFill>
                  <a:srgbClr val="00B05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Solution:</a:t>
            </a:r>
            <a:r>
              <a:rPr lang="en-US" altLang="en-US" sz="11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US" altLang="en-US" sz="11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MLP or AutoEncoder fills missing keypoints   </a:t>
            </a:r>
            <a:r>
              <a:rPr lang="en-US" altLang="en-US" sz="11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   Lightweight for real-time</a:t>
            </a:r>
            <a:endParaRPr lang="en-US" altLang="en-US" sz="1100" b="1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974" name="Google Shape;974;p44"/>
          <p:cNvSpPr/>
          <p:nvPr/>
        </p:nvSpPr>
        <p:spPr>
          <a:xfrm>
            <a:off x="3025140" y="4587875"/>
            <a:ext cx="100965" cy="95250"/>
          </a:xfrm>
          <a:custGeom>
            <a:avLst/>
            <a:gdLst/>
            <a:ahLst/>
            <a:cxnLst/>
            <a:rect l="l" t="t" r="r" b="b"/>
            <a:pathLst>
              <a:path w="2821" h="2122" extrusionOk="0">
                <a:moveTo>
                  <a:pt x="1761" y="1"/>
                </a:moveTo>
                <a:lnTo>
                  <a:pt x="1400" y="361"/>
                </a:lnTo>
                <a:lnTo>
                  <a:pt x="1847" y="808"/>
                </a:lnTo>
                <a:lnTo>
                  <a:pt x="1" y="808"/>
                </a:lnTo>
                <a:lnTo>
                  <a:pt x="1" y="1321"/>
                </a:lnTo>
                <a:lnTo>
                  <a:pt x="1847" y="1321"/>
                </a:lnTo>
                <a:lnTo>
                  <a:pt x="1400" y="1768"/>
                </a:lnTo>
                <a:lnTo>
                  <a:pt x="1761" y="2121"/>
                </a:lnTo>
                <a:lnTo>
                  <a:pt x="2821" y="1061"/>
                </a:lnTo>
                <a:lnTo>
                  <a:pt x="1761" y="1"/>
                </a:lnTo>
                <a:close/>
              </a:path>
            </a:pathLst>
          </a:custGeom>
          <a:noFill/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974;p44"/>
          <p:cNvSpPr/>
          <p:nvPr/>
        </p:nvSpPr>
        <p:spPr>
          <a:xfrm>
            <a:off x="6804025" y="4587875"/>
            <a:ext cx="100965" cy="95250"/>
          </a:xfrm>
          <a:custGeom>
            <a:avLst/>
            <a:gdLst/>
            <a:ahLst/>
            <a:cxnLst/>
            <a:rect l="l" t="t" r="r" b="b"/>
            <a:pathLst>
              <a:path w="2821" h="2122" extrusionOk="0">
                <a:moveTo>
                  <a:pt x="1761" y="1"/>
                </a:moveTo>
                <a:lnTo>
                  <a:pt x="1400" y="361"/>
                </a:lnTo>
                <a:lnTo>
                  <a:pt x="1847" y="808"/>
                </a:lnTo>
                <a:lnTo>
                  <a:pt x="1" y="808"/>
                </a:lnTo>
                <a:lnTo>
                  <a:pt x="1" y="1321"/>
                </a:lnTo>
                <a:lnTo>
                  <a:pt x="1847" y="1321"/>
                </a:lnTo>
                <a:lnTo>
                  <a:pt x="1400" y="1768"/>
                </a:lnTo>
                <a:lnTo>
                  <a:pt x="1761" y="2121"/>
                </a:lnTo>
                <a:lnTo>
                  <a:pt x="2821" y="1061"/>
                </a:lnTo>
                <a:lnTo>
                  <a:pt x="1761" y="1"/>
                </a:lnTo>
                <a:close/>
              </a:path>
            </a:pathLst>
          </a:custGeom>
          <a:noFill/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 txBox="1"/>
          <p:nvPr>
            <p:ph type="title"/>
          </p:nvPr>
        </p:nvSpPr>
        <p:spPr>
          <a:xfrm>
            <a:off x="330200" y="539750"/>
            <a:ext cx="8321675" cy="5727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 Sequence Modeling (CNN)</a:t>
            </a:r>
            <a:endParaRPr lang="en-US" altLang="en-US"/>
          </a:p>
        </p:txBody>
      </p:sp>
      <p:sp>
        <p:nvSpPr>
          <p:cNvPr id="232" name="Google Shape;232;p25"/>
          <p:cNvSpPr txBox="1"/>
          <p:nvPr>
            <p:ph type="subTitle" idx="4294967295"/>
          </p:nvPr>
        </p:nvSpPr>
        <p:spPr>
          <a:xfrm>
            <a:off x="755650" y="1419860"/>
            <a:ext cx="6195060" cy="142938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altLang="en-US" sz="18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Detects short-term motion patterns</a:t>
            </a:r>
            <a:endParaRPr lang="en-US" altLang="en-US" sz="1800" b="1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endParaRPr lang="en-US" altLang="en-US" sz="1800" b="1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altLang="en-US" sz="18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Works on a sliding window of pose vectors</a:t>
            </a:r>
            <a:endParaRPr lang="en-US" altLang="en-US" sz="1800" b="1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endParaRPr lang="en-US" altLang="en-US" sz="1800" b="1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altLang="en-US" sz="18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Very fast – ideal for real-time systems</a:t>
            </a:r>
            <a:endParaRPr lang="en-US" altLang="en-US" sz="1800" b="1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3" name="Picture 2" descr="2018-07-06T10_41_09.74199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27405" y="3259455"/>
            <a:ext cx="855980" cy="642620"/>
          </a:xfrm>
          <a:prstGeom prst="rect">
            <a:avLst/>
          </a:prstGeom>
        </p:spPr>
      </p:pic>
      <p:pic>
        <p:nvPicPr>
          <p:cNvPr id="12" name="Picture 11" descr="2018-07-06T10_41_10.25819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8175" y="3259455"/>
            <a:ext cx="855980" cy="642620"/>
          </a:xfrm>
          <a:prstGeom prst="rect">
            <a:avLst/>
          </a:prstGeom>
        </p:spPr>
      </p:pic>
      <p:pic>
        <p:nvPicPr>
          <p:cNvPr id="16" name="Picture 15" descr="2018-07-06T10_41_10.51036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060065" y="3251200"/>
            <a:ext cx="866775" cy="650875"/>
          </a:xfrm>
          <a:prstGeom prst="rect">
            <a:avLst/>
          </a:prstGeom>
        </p:spPr>
      </p:pic>
      <p:pic>
        <p:nvPicPr>
          <p:cNvPr id="19" name="Picture 18" descr="2018-07-06T10_41_10.69385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211955" y="3249295"/>
            <a:ext cx="869950" cy="652780"/>
          </a:xfrm>
          <a:prstGeom prst="rect">
            <a:avLst/>
          </a:prstGeom>
        </p:spPr>
      </p:pic>
      <p:pic>
        <p:nvPicPr>
          <p:cNvPr id="22" name="Picture 21" descr="2018-07-06T10_41_10.83422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365750" y="3234690"/>
            <a:ext cx="889635" cy="667385"/>
          </a:xfrm>
          <a:prstGeom prst="rect">
            <a:avLst/>
          </a:prstGeom>
        </p:spPr>
      </p:pic>
      <p:pic>
        <p:nvPicPr>
          <p:cNvPr id="24" name="Picture 23" descr="2018-07-06T10_41_10.971588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516370" y="3215005"/>
            <a:ext cx="915670" cy="687070"/>
          </a:xfrm>
          <a:prstGeom prst="rect">
            <a:avLst/>
          </a:prstGeom>
        </p:spPr>
      </p:pic>
      <p:pic>
        <p:nvPicPr>
          <p:cNvPr id="29" name="Picture 28" descr="2018-07-06T10_41_11.21925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7697470" y="3215005"/>
            <a:ext cx="915670" cy="687070"/>
          </a:xfrm>
          <a:prstGeom prst="rect">
            <a:avLst/>
          </a:prstGeom>
        </p:spPr>
      </p:pic>
      <p:sp>
        <p:nvSpPr>
          <p:cNvPr id="258" name="Google Shape;258;p26"/>
          <p:cNvSpPr txBox="1"/>
          <p:nvPr>
            <p:custDataLst>
              <p:tags r:id="rId15"/>
            </p:custDataLst>
          </p:nvPr>
        </p:nvSpPr>
        <p:spPr>
          <a:xfrm>
            <a:off x="939800" y="3890010"/>
            <a:ext cx="603885" cy="31813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000"/>
              <a:t>Frame 1</a:t>
            </a:r>
            <a:endParaRPr lang="en-US" altLang="en-GB" sz="1000"/>
          </a:p>
        </p:txBody>
      </p:sp>
      <p:sp>
        <p:nvSpPr>
          <p:cNvPr id="49" name="Google Shape;258;p26"/>
          <p:cNvSpPr txBox="1"/>
          <p:nvPr>
            <p:custDataLst>
              <p:tags r:id="rId16"/>
            </p:custDataLst>
          </p:nvPr>
        </p:nvSpPr>
        <p:spPr>
          <a:xfrm>
            <a:off x="1951990" y="3902075"/>
            <a:ext cx="708660" cy="30607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000">
                <a:solidFill>
                  <a:schemeClr val="tx1"/>
                </a:solidFill>
              </a:rPr>
              <a:t>Frame 2</a:t>
            </a:r>
            <a:endParaRPr lang="en-US" altLang="en-GB" sz="1000">
              <a:solidFill>
                <a:schemeClr val="tx1"/>
              </a:solidFill>
            </a:endParaRPr>
          </a:p>
        </p:txBody>
      </p:sp>
      <p:sp>
        <p:nvSpPr>
          <p:cNvPr id="50" name="Google Shape;258;p26"/>
          <p:cNvSpPr txBox="1"/>
          <p:nvPr>
            <p:custDataLst>
              <p:tags r:id="rId17"/>
            </p:custDataLst>
          </p:nvPr>
        </p:nvSpPr>
        <p:spPr>
          <a:xfrm>
            <a:off x="3072130" y="3902075"/>
            <a:ext cx="751840" cy="30607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000">
                <a:solidFill>
                  <a:schemeClr val="tx1"/>
                </a:solidFill>
              </a:rPr>
              <a:t>Frame 3</a:t>
            </a:r>
            <a:endParaRPr lang="en-US" altLang="en-GB" sz="1000">
              <a:solidFill>
                <a:schemeClr val="tx1"/>
              </a:solidFill>
            </a:endParaRPr>
          </a:p>
        </p:txBody>
      </p:sp>
      <p:sp>
        <p:nvSpPr>
          <p:cNvPr id="51" name="Google Shape;258;p26"/>
          <p:cNvSpPr txBox="1"/>
          <p:nvPr>
            <p:custDataLst>
              <p:tags r:id="rId18"/>
            </p:custDataLst>
          </p:nvPr>
        </p:nvSpPr>
        <p:spPr>
          <a:xfrm>
            <a:off x="4213860" y="3902075"/>
            <a:ext cx="774065" cy="30607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000">
                <a:solidFill>
                  <a:schemeClr val="tx1"/>
                </a:solidFill>
              </a:rPr>
              <a:t>Frame 4</a:t>
            </a:r>
            <a:endParaRPr lang="en-US" altLang="en-GB" sz="1000">
              <a:solidFill>
                <a:schemeClr val="tx1"/>
              </a:solidFill>
            </a:endParaRPr>
          </a:p>
        </p:txBody>
      </p:sp>
      <p:sp>
        <p:nvSpPr>
          <p:cNvPr id="52" name="Google Shape;258;p26"/>
          <p:cNvSpPr txBox="1"/>
          <p:nvPr>
            <p:custDataLst>
              <p:tags r:id="rId19"/>
            </p:custDataLst>
          </p:nvPr>
        </p:nvSpPr>
        <p:spPr>
          <a:xfrm>
            <a:off x="5386070" y="3902075"/>
            <a:ext cx="732790" cy="30607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000">
                <a:solidFill>
                  <a:schemeClr val="tx1"/>
                </a:solidFill>
              </a:rPr>
              <a:t>Frame 5</a:t>
            </a:r>
            <a:endParaRPr lang="en-US" altLang="en-GB" sz="1000">
              <a:solidFill>
                <a:schemeClr val="tx1"/>
              </a:solidFill>
            </a:endParaRPr>
          </a:p>
        </p:txBody>
      </p:sp>
      <p:sp>
        <p:nvSpPr>
          <p:cNvPr id="53" name="Google Shape;258;p26"/>
          <p:cNvSpPr txBox="1"/>
          <p:nvPr>
            <p:custDataLst>
              <p:tags r:id="rId20"/>
            </p:custDataLst>
          </p:nvPr>
        </p:nvSpPr>
        <p:spPr>
          <a:xfrm>
            <a:off x="6541135" y="3902075"/>
            <a:ext cx="761365" cy="30607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000">
                <a:solidFill>
                  <a:schemeClr val="tx1"/>
                </a:solidFill>
              </a:rPr>
              <a:t>Frame 6</a:t>
            </a:r>
            <a:endParaRPr lang="en-US" altLang="en-GB" sz="1000">
              <a:solidFill>
                <a:schemeClr val="tx1"/>
              </a:solidFill>
            </a:endParaRPr>
          </a:p>
        </p:txBody>
      </p:sp>
      <p:sp>
        <p:nvSpPr>
          <p:cNvPr id="54" name="Google Shape;258;p26"/>
          <p:cNvSpPr txBox="1"/>
          <p:nvPr>
            <p:custDataLst>
              <p:tags r:id="rId21"/>
            </p:custDataLst>
          </p:nvPr>
        </p:nvSpPr>
        <p:spPr>
          <a:xfrm>
            <a:off x="7812405" y="3902075"/>
            <a:ext cx="612140" cy="30607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000"/>
              <a:t>Frame 7</a:t>
            </a:r>
            <a:endParaRPr lang="en-US" altLang="en-GB" sz="1000"/>
          </a:p>
        </p:txBody>
      </p:sp>
      <p:sp>
        <p:nvSpPr>
          <p:cNvPr id="55" name="Text Box 54"/>
          <p:cNvSpPr txBox="1"/>
          <p:nvPr/>
        </p:nvSpPr>
        <p:spPr>
          <a:xfrm>
            <a:off x="3048000" y="4443730"/>
            <a:ext cx="3048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1000" i="1">
                <a:solidFill>
                  <a:schemeClr val="bg1">
                    <a:lumMod val="50000"/>
                  </a:schemeClr>
                </a:solidFill>
              </a:rPr>
              <a:t>Used as a motion window for CNN</a:t>
            </a:r>
            <a:endParaRPr lang="en-US" altLang="en-US" sz="1000" i="1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 txBox="1"/>
          <p:nvPr>
            <p:ph type="title"/>
          </p:nvPr>
        </p:nvSpPr>
        <p:spPr>
          <a:xfrm>
            <a:off x="330200" y="539750"/>
            <a:ext cx="8321675" cy="5727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Temporal Attention (Transformer Encoder)</a:t>
            </a:r>
            <a:endParaRPr lang="en-US" altLang="en-US"/>
          </a:p>
        </p:txBody>
      </p:sp>
      <p:sp>
        <p:nvSpPr>
          <p:cNvPr id="232" name="Google Shape;232;p25"/>
          <p:cNvSpPr txBox="1"/>
          <p:nvPr>
            <p:ph type="subTitle" idx="4294967295"/>
          </p:nvPr>
        </p:nvSpPr>
        <p:spPr>
          <a:xfrm>
            <a:off x="755650" y="1275715"/>
            <a:ext cx="4368800" cy="4476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Captures important frames in time</a:t>
            </a:r>
            <a:endParaRPr lang="en-US" altLang="en-US" sz="1800" b="1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" name="Google Shape;232;p25"/>
          <p:cNvSpPr txBox="1"/>
          <p:nvPr/>
        </p:nvSpPr>
        <p:spPr>
          <a:xfrm>
            <a:off x="755650" y="1723390"/>
            <a:ext cx="4368800" cy="44767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Focuses on motion before fall</a:t>
            </a:r>
            <a:endParaRPr lang="en-US" altLang="en-US" sz="1800" b="1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" name="Google Shape;232;p25"/>
          <p:cNvSpPr txBox="1"/>
          <p:nvPr/>
        </p:nvSpPr>
        <p:spPr>
          <a:xfrm>
            <a:off x="755650" y="2171065"/>
            <a:ext cx="4368800" cy="44767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Efficient attention head</a:t>
            </a:r>
            <a:endParaRPr lang="en-US" altLang="en-US" sz="1800" b="1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3" name="Picture 2" descr="2018-07-06T10_41_09.74199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95" y="3284220"/>
            <a:ext cx="823595" cy="617855"/>
          </a:xfrm>
          <a:prstGeom prst="rect">
            <a:avLst/>
          </a:prstGeom>
        </p:spPr>
      </p:pic>
      <p:pic>
        <p:nvPicPr>
          <p:cNvPr id="12" name="Picture 11" descr="2018-07-06T10_41_10.2581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175" y="3158490"/>
            <a:ext cx="991235" cy="743585"/>
          </a:xfrm>
          <a:prstGeom prst="rect">
            <a:avLst/>
          </a:prstGeom>
        </p:spPr>
      </p:pic>
      <p:pic>
        <p:nvPicPr>
          <p:cNvPr id="16" name="Picture 15" descr="2018-07-06T10_41_10.5103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0065" y="3148965"/>
            <a:ext cx="1003935" cy="753110"/>
          </a:xfrm>
          <a:prstGeom prst="rect">
            <a:avLst/>
          </a:prstGeom>
        </p:spPr>
      </p:pic>
      <p:pic>
        <p:nvPicPr>
          <p:cNvPr id="19" name="Picture 18" descr="2018-07-06T10_41_10.6938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955" y="3147695"/>
            <a:ext cx="1005840" cy="754380"/>
          </a:xfrm>
          <a:prstGeom prst="rect">
            <a:avLst/>
          </a:prstGeom>
        </p:spPr>
      </p:pic>
      <p:pic>
        <p:nvPicPr>
          <p:cNvPr id="22" name="Picture 21" descr="2018-07-06T10_41_10.8342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5750" y="3129280"/>
            <a:ext cx="1029970" cy="772795"/>
          </a:xfrm>
          <a:prstGeom prst="rect">
            <a:avLst/>
          </a:prstGeom>
        </p:spPr>
      </p:pic>
      <p:pic>
        <p:nvPicPr>
          <p:cNvPr id="24" name="Picture 23" descr="2018-07-06T10_41_10.97158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6370" y="3107055"/>
            <a:ext cx="1059815" cy="795020"/>
          </a:xfrm>
          <a:prstGeom prst="rect">
            <a:avLst/>
          </a:prstGeom>
        </p:spPr>
      </p:pic>
      <p:pic>
        <p:nvPicPr>
          <p:cNvPr id="29" name="Picture 28" descr="2018-07-06T10_41_11.21925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7470" y="3215005"/>
            <a:ext cx="915670" cy="687070"/>
          </a:xfrm>
          <a:prstGeom prst="rect">
            <a:avLst/>
          </a:prstGeom>
        </p:spPr>
      </p:pic>
      <p:sp>
        <p:nvSpPr>
          <p:cNvPr id="258" name="Google Shape;258;p26"/>
          <p:cNvSpPr txBox="1"/>
          <p:nvPr/>
        </p:nvSpPr>
        <p:spPr>
          <a:xfrm>
            <a:off x="971550" y="3902075"/>
            <a:ext cx="612140" cy="30607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000"/>
              <a:t>Frame 1</a:t>
            </a:r>
            <a:endParaRPr lang="en-US" altLang="en-GB" sz="1000"/>
          </a:p>
        </p:txBody>
      </p:sp>
      <p:sp>
        <p:nvSpPr>
          <p:cNvPr id="49" name="Google Shape;258;p26"/>
          <p:cNvSpPr txBox="1"/>
          <p:nvPr/>
        </p:nvSpPr>
        <p:spPr>
          <a:xfrm>
            <a:off x="2066290" y="3902075"/>
            <a:ext cx="708660" cy="30607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000" b="1">
                <a:solidFill>
                  <a:srgbClr val="FF0000"/>
                </a:solidFill>
              </a:rPr>
              <a:t>Frame 2</a:t>
            </a:r>
            <a:endParaRPr lang="en-US" altLang="en-GB" sz="1000" b="1">
              <a:solidFill>
                <a:srgbClr val="FF0000"/>
              </a:solidFill>
            </a:endParaRPr>
          </a:p>
        </p:txBody>
      </p:sp>
      <p:sp>
        <p:nvSpPr>
          <p:cNvPr id="50" name="Google Shape;258;p26"/>
          <p:cNvSpPr txBox="1"/>
          <p:nvPr/>
        </p:nvSpPr>
        <p:spPr>
          <a:xfrm>
            <a:off x="3176905" y="3902075"/>
            <a:ext cx="751840" cy="30607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000" b="1">
                <a:solidFill>
                  <a:srgbClr val="FF0000"/>
                </a:solidFill>
              </a:rPr>
              <a:t>Frame 3</a:t>
            </a:r>
            <a:endParaRPr lang="en-US" altLang="en-GB" sz="1000" b="1">
              <a:solidFill>
                <a:srgbClr val="FF0000"/>
              </a:solidFill>
            </a:endParaRPr>
          </a:p>
        </p:txBody>
      </p:sp>
      <p:sp>
        <p:nvSpPr>
          <p:cNvPr id="51" name="Google Shape;258;p26"/>
          <p:cNvSpPr txBox="1"/>
          <p:nvPr/>
        </p:nvSpPr>
        <p:spPr>
          <a:xfrm>
            <a:off x="4289425" y="3902075"/>
            <a:ext cx="774065" cy="30607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000" b="1">
                <a:solidFill>
                  <a:srgbClr val="FF0000"/>
                </a:solidFill>
              </a:rPr>
              <a:t>Frame 4</a:t>
            </a:r>
            <a:endParaRPr lang="en-US" altLang="en-GB" sz="1000" b="1">
              <a:solidFill>
                <a:srgbClr val="FF0000"/>
              </a:solidFill>
            </a:endParaRPr>
          </a:p>
        </p:txBody>
      </p:sp>
      <p:sp>
        <p:nvSpPr>
          <p:cNvPr id="52" name="Google Shape;258;p26"/>
          <p:cNvSpPr txBox="1"/>
          <p:nvPr/>
        </p:nvSpPr>
        <p:spPr>
          <a:xfrm>
            <a:off x="5462270" y="3902075"/>
            <a:ext cx="732790" cy="30607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000" b="1">
                <a:solidFill>
                  <a:srgbClr val="FF0000"/>
                </a:solidFill>
              </a:rPr>
              <a:t>Frame 5</a:t>
            </a:r>
            <a:endParaRPr lang="en-US" altLang="en-GB" sz="1000" b="1">
              <a:solidFill>
                <a:srgbClr val="FF0000"/>
              </a:solidFill>
            </a:endParaRPr>
          </a:p>
        </p:txBody>
      </p:sp>
      <p:sp>
        <p:nvSpPr>
          <p:cNvPr id="53" name="Google Shape;258;p26"/>
          <p:cNvSpPr txBox="1"/>
          <p:nvPr/>
        </p:nvSpPr>
        <p:spPr>
          <a:xfrm>
            <a:off x="6633210" y="3902075"/>
            <a:ext cx="761365" cy="30607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000" b="1">
                <a:solidFill>
                  <a:srgbClr val="FF0000"/>
                </a:solidFill>
              </a:rPr>
              <a:t>Frame 6</a:t>
            </a:r>
            <a:endParaRPr lang="en-US" altLang="en-GB" sz="1000" b="1">
              <a:solidFill>
                <a:srgbClr val="FF0000"/>
              </a:solidFill>
            </a:endParaRPr>
          </a:p>
        </p:txBody>
      </p:sp>
      <p:sp>
        <p:nvSpPr>
          <p:cNvPr id="54" name="Google Shape;258;p26"/>
          <p:cNvSpPr txBox="1"/>
          <p:nvPr/>
        </p:nvSpPr>
        <p:spPr>
          <a:xfrm>
            <a:off x="7812405" y="3902075"/>
            <a:ext cx="612140" cy="30607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000"/>
              <a:t>Frame 7</a:t>
            </a:r>
            <a:endParaRPr lang="en-US" altLang="en-GB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/>
          <p:nvPr/>
        </p:nvPicPr>
        <p:blipFill>
          <a:blip r:embed="rId1"/>
          <a:stretch>
            <a:fillRect/>
          </a:stretch>
        </p:blipFill>
        <p:spPr>
          <a:xfrm>
            <a:off x="3636010" y="3291840"/>
            <a:ext cx="2179320" cy="1502410"/>
          </a:xfrm>
          <a:prstGeom prst="rect">
            <a:avLst/>
          </a:prstGeom>
        </p:spPr>
      </p:pic>
      <p:sp>
        <p:nvSpPr>
          <p:cNvPr id="239" name="Google Shape;239;p2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Dual Output Head</a:t>
            </a:r>
            <a:endParaRPr lang="en-US" altLang="en-US"/>
          </a:p>
        </p:txBody>
      </p:sp>
      <p:graphicFrame>
        <p:nvGraphicFramePr>
          <p:cNvPr id="2" name="Table 1"/>
          <p:cNvGraphicFramePr/>
          <p:nvPr/>
        </p:nvGraphicFramePr>
        <p:xfrm>
          <a:off x="1403350" y="1491615"/>
          <a:ext cx="640016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9765"/>
                <a:gridCol w="31997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ym typeface="+mn-ea"/>
                        </a:rPr>
                        <a:t>Output 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ym typeface="+mn-ea"/>
                        </a:rPr>
                        <a:t>Output 2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1"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Classification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1"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Regression</a:t>
                      </a:r>
                      <a:endParaRPr lang="en-US" altLang="en-US" sz="1400" b="1"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  <a:p>
                      <a:pPr algn="ctr"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>
                          <a:sym typeface="+mn-ea"/>
                        </a:rPr>
                        <a:t>Fall / Pre-fall / No fall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>
                          <a:sym typeface="+mn-ea"/>
                        </a:rPr>
                        <a:t>Time-to-fall in seconds (ttf = 1.45)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s 6"/>
          <p:cNvSpPr/>
          <p:nvPr/>
        </p:nvSpPr>
        <p:spPr>
          <a:xfrm>
            <a:off x="3636010" y="3291205"/>
            <a:ext cx="2178685" cy="15024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3563620" y="3047365"/>
            <a:ext cx="7556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200">
                <a:solidFill>
                  <a:srgbClr val="FF0000"/>
                </a:solidFill>
              </a:rPr>
              <a:t>Fall</a:t>
            </a:r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923665" y="3038475"/>
            <a:ext cx="8763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en-US" sz="1200">
                <a:solidFill>
                  <a:srgbClr val="7030A0"/>
                </a:solidFill>
                <a:sym typeface="+mn-ea"/>
              </a:rPr>
              <a:t>ttf = 1.45</a:t>
            </a:r>
            <a:endParaRPr lang="en-US" altLang="en-US" sz="1200">
              <a:solidFill>
                <a:srgbClr val="7030A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9" name="Google Shape;239;p26"/>
          <p:cNvSpPr txBox="1"/>
          <p:nvPr/>
        </p:nvSpPr>
        <p:spPr>
          <a:xfrm>
            <a:off x="847000" y="666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 i="0" u="none" strike="noStrike" cap="none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Dual Why Is Regression Important?</a:t>
            </a:r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187450" y="3075940"/>
            <a:ext cx="7121525" cy="30670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/>
              <a:t>Regression predicts</a:t>
            </a:r>
            <a:r>
              <a:rPr lang="en-US" altLang="zh-CN" i="1"/>
              <a:t> "how many seconds until a fall occurs”</a:t>
            </a:r>
            <a:r>
              <a:rPr lang="en-US" altLang="zh-CN"/>
              <a:t> - *(e.g., “1.7 seconds to fall”)</a:t>
            </a:r>
            <a:endParaRPr lang="en-US" altLang="zh-CN"/>
          </a:p>
        </p:txBody>
      </p:sp>
      <p:sp>
        <p:nvSpPr>
          <p:cNvPr id="5" name="Text Box 4"/>
          <p:cNvSpPr txBox="1"/>
          <p:nvPr/>
        </p:nvSpPr>
        <p:spPr>
          <a:xfrm>
            <a:off x="1403350" y="3507740"/>
            <a:ext cx="5080000" cy="1014730"/>
          </a:xfrm>
          <a:prstGeom prst="rect">
            <a:avLst/>
          </a:prstGeom>
        </p:spPr>
        <p:txBody>
          <a:bodyPr>
            <a:spAutoFit/>
          </a:bodyPr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/>
              <a:t>Enables early warning systems: </a:t>
            </a:r>
            <a:r>
              <a:rPr lang="en-US" altLang="zh-CN" sz="1200" b="1"/>
              <a:t>alarm, drone, emergency response</a:t>
            </a:r>
            <a:endParaRPr lang="en-US" altLang="zh-CN" sz="1200" b="1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/>
              <a:t>Helps take action before the actual fall happens</a:t>
            </a:r>
            <a:endParaRPr lang="en-US" altLang="zh-CN" sz="12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/>
              <a:t>Offers a precise estimate of how close the person is to falling</a:t>
            </a:r>
            <a:endParaRPr lang="en-US" altLang="zh-CN" sz="1200"/>
          </a:p>
        </p:txBody>
      </p:sp>
      <p:pic>
        <p:nvPicPr>
          <p:cNvPr id="6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755650" y="1294130"/>
            <a:ext cx="2508885" cy="158115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3420110" y="1294130"/>
            <a:ext cx="2391410" cy="158115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3"/>
          <a:srcRect t="11888"/>
          <a:stretch>
            <a:fillRect/>
          </a:stretch>
        </p:blipFill>
        <p:spPr>
          <a:xfrm>
            <a:off x="5967095" y="1294130"/>
            <a:ext cx="2511425" cy="15868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/>
              <a:t>Model Architecture Overview</a:t>
            </a:r>
            <a:endParaRPr lang="en-US" altLang="en-US"/>
          </a:p>
        </p:txBody>
      </p:sp>
      <p:pic>
        <p:nvPicPr>
          <p:cNvPr id="3" name="Picture 2" descr="1 (1)"/>
          <p:cNvPicPr>
            <a:picLocks noChangeAspect="1"/>
          </p:cNvPicPr>
          <p:nvPr/>
        </p:nvPicPr>
        <p:blipFill>
          <a:blip r:embed="rId1"/>
          <a:srcRect l="6" t="4577" r="6108" b="1780"/>
          <a:stretch>
            <a:fillRect/>
          </a:stretch>
        </p:blipFill>
        <p:spPr>
          <a:xfrm>
            <a:off x="1043305" y="1183005"/>
            <a:ext cx="7058025" cy="39604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7"/>
          <p:cNvSpPr txBox="1"/>
          <p:nvPr>
            <p:ph type="title"/>
          </p:nvPr>
        </p:nvSpPr>
        <p:spPr>
          <a:xfrm>
            <a:off x="683805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Comparative Table</a:t>
            </a:r>
            <a:endParaRPr lang="en-US" altLang="en-US"/>
          </a:p>
        </p:txBody>
      </p:sp>
      <p:graphicFrame>
        <p:nvGraphicFramePr>
          <p:cNvPr id="3" name="Table 2"/>
          <p:cNvGraphicFramePr/>
          <p:nvPr/>
        </p:nvGraphicFramePr>
        <p:xfrm>
          <a:off x="1371600" y="1619250"/>
          <a:ext cx="640016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165"/>
                <a:gridCol w="1066165"/>
                <a:gridCol w="1066165"/>
                <a:gridCol w="1066165"/>
                <a:gridCol w="1066165"/>
                <a:gridCol w="1066165"/>
              </a:tblGrid>
              <a:tr h="381000"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Model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Occlusion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Pre-fall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Regression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Attention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Real-time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algn="ctr"/>
                      <a:r>
                        <a:rPr lang="en-US" altLang="zh-CN" sz="1100" b="1"/>
                        <a:t>YOSAP</a:t>
                      </a:r>
                      <a:endParaRPr lang="en-US" altLang="zh-CN" sz="1100" b="1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solidFill>
                            <a:srgbClr val="FF0000"/>
                          </a:solidFill>
                        </a:rPr>
                        <a:t>❌</a:t>
                      </a:r>
                      <a:endParaRPr lang="en-US" altLang="zh-CN"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solidFill>
                            <a:srgbClr val="00B050"/>
                          </a:solidFill>
                          <a:sym typeface="+mn-ea"/>
                        </a:rPr>
                        <a:t>✅</a:t>
                      </a:r>
                      <a:endParaRPr lang="en-US" altLang="zh-CN"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FF0000"/>
                          </a:solidFill>
                          <a:sym typeface="+mn-ea"/>
                        </a:rPr>
                        <a:t>❌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FF0000"/>
                          </a:solidFill>
                          <a:sym typeface="+mn-ea"/>
                        </a:rPr>
                        <a:t>❌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FF0000"/>
                          </a:solidFill>
                          <a:sym typeface="+mn-ea"/>
                        </a:rPr>
                        <a:t>❌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/>
                      <a:r>
                        <a:rPr lang="en-US" altLang="zh-CN" sz="1100" b="1"/>
                        <a:t>TCNTE</a:t>
                      </a:r>
                      <a:endParaRPr lang="en-US" altLang="zh-CN" sz="1100" b="1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solidFill>
                            <a:srgbClr val="FF0000"/>
                          </a:solidFill>
                          <a:sym typeface="+mn-ea"/>
                        </a:rPr>
                        <a:t>❌</a:t>
                      </a:r>
                      <a:endParaRPr lang="en-US" altLang="zh-CN"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FF0000"/>
                          </a:solidFill>
                          <a:sym typeface="+mn-ea"/>
                        </a:rPr>
                        <a:t>❌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FF0000"/>
                          </a:solidFill>
                          <a:sym typeface="+mn-ea"/>
                        </a:rPr>
                        <a:t>❌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solidFill>
                            <a:srgbClr val="00B050"/>
                          </a:solidFill>
                          <a:sym typeface="+mn-ea"/>
                        </a:rPr>
                        <a:t>✅</a:t>
                      </a:r>
                      <a:endParaRPr lang="zh-CN" altLang="en-US" sz="1400">
                        <a:solidFill>
                          <a:srgbClr val="FFC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solidFill>
                            <a:srgbClr val="00B050"/>
                          </a:solidFill>
                          <a:sym typeface="+mn-ea"/>
                        </a:rPr>
                        <a:t>✅</a:t>
                      </a:r>
                      <a:endParaRPr sz="140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algn="ctr"/>
                      <a:r>
                        <a:rPr lang="en-US" altLang="zh-CN" sz="1100" b="1"/>
                        <a:t>TST</a:t>
                      </a:r>
                      <a:endParaRPr lang="en-US" altLang="zh-CN" sz="1100" b="1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solidFill>
                            <a:srgbClr val="FF0000"/>
                          </a:solidFill>
                          <a:sym typeface="+mn-ea"/>
                        </a:rPr>
                        <a:t>❌</a:t>
                      </a:r>
                      <a:endParaRPr lang="en-US" altLang="zh-CN"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FF0000"/>
                          </a:solidFill>
                          <a:sym typeface="+mn-ea"/>
                        </a:rPr>
                        <a:t>❌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FF0000"/>
                          </a:solidFill>
                          <a:sym typeface="+mn-ea"/>
                        </a:rPr>
                        <a:t>❌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solidFill>
                            <a:srgbClr val="00B050"/>
                          </a:solidFill>
                          <a:sym typeface="+mn-ea"/>
                        </a:rPr>
                        <a:t>✅</a:t>
                      </a:r>
                      <a:endParaRPr lang="en-US" altLang="zh-CN"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FF0000"/>
                          </a:solidFill>
                          <a:sym typeface="+mn-ea"/>
                        </a:rPr>
                        <a:t>❌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/>
                      <a:r>
                        <a:rPr lang="en-US" altLang="zh-CN" sz="1100" b="1"/>
                        <a:t>Ours</a:t>
                      </a:r>
                      <a:endParaRPr lang="en-US" altLang="zh-CN" sz="1100" b="1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00B050"/>
                          </a:solidFill>
                          <a:sym typeface="+mn-ea"/>
                        </a:rPr>
                        <a:t>✅</a:t>
                      </a:r>
                      <a:endParaRPr lang="en-US" altLang="zh-CN" sz="1400">
                        <a:solidFill>
                          <a:srgbClr val="00B050"/>
                        </a:solidFill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solidFill>
                            <a:srgbClr val="00B050"/>
                          </a:solidFill>
                          <a:sym typeface="+mn-ea"/>
                        </a:rPr>
                        <a:t>✅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solidFill>
                            <a:srgbClr val="00B050"/>
                          </a:solidFill>
                          <a:sym typeface="+mn-ea"/>
                        </a:rPr>
                        <a:t>✅</a:t>
                      </a:r>
                      <a:endParaRPr lang="en-US" altLang="zh-CN"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solidFill>
                            <a:srgbClr val="00B050"/>
                          </a:solidFill>
                          <a:sym typeface="+mn-ea"/>
                        </a:rPr>
                        <a:t>✅</a:t>
                      </a:r>
                      <a:endParaRPr lang="en-US" altLang="zh-CN"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solidFill>
                            <a:srgbClr val="00B050"/>
                          </a:solidFill>
                          <a:sym typeface="+mn-ea"/>
                        </a:rPr>
                        <a:t>✅</a:t>
                      </a:r>
                      <a:endParaRPr lang="en-US" altLang="zh-CN" sz="14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2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Model Innovation Summary</a:t>
            </a:r>
            <a:endParaRPr lang="en-US" altLang="en-US"/>
          </a:p>
        </p:txBody>
      </p:sp>
      <p:sp>
        <p:nvSpPr>
          <p:cNvPr id="524" name="Google Shape;524;p32"/>
          <p:cNvSpPr/>
          <p:nvPr/>
        </p:nvSpPr>
        <p:spPr>
          <a:xfrm>
            <a:off x="1611971" y="1383876"/>
            <a:ext cx="1667009" cy="2319539"/>
          </a:xfrm>
          <a:custGeom>
            <a:avLst/>
            <a:gdLst/>
            <a:ahLst/>
            <a:cxnLst/>
            <a:rect l="l" t="t" r="r" b="b"/>
            <a:pathLst>
              <a:path w="493563" h="686762" extrusionOk="0">
                <a:moveTo>
                  <a:pt x="49626" y="687060"/>
                </a:moveTo>
                <a:cubicBezTo>
                  <a:pt x="36018" y="671928"/>
                  <a:pt x="19024" y="660228"/>
                  <a:pt x="32" y="652915"/>
                </a:cubicBezTo>
                <a:lnTo>
                  <a:pt x="186097" y="337973"/>
                </a:lnTo>
                <a:cubicBezTo>
                  <a:pt x="186129" y="337902"/>
                  <a:pt x="186165" y="337833"/>
                  <a:pt x="186207" y="337767"/>
                </a:cubicBezTo>
                <a:cubicBezTo>
                  <a:pt x="193909" y="324636"/>
                  <a:pt x="185071" y="313731"/>
                  <a:pt x="185071" y="313731"/>
                </a:cubicBezTo>
                <a:lnTo>
                  <a:pt x="170758" y="298327"/>
                </a:lnTo>
                <a:cubicBezTo>
                  <a:pt x="120695" y="237603"/>
                  <a:pt x="114130" y="148914"/>
                  <a:pt x="160399" y="80347"/>
                </a:cubicBezTo>
                <a:cubicBezTo>
                  <a:pt x="216777" y="-3092"/>
                  <a:pt x="330097" y="-25094"/>
                  <a:pt x="413554" y="31285"/>
                </a:cubicBezTo>
                <a:cubicBezTo>
                  <a:pt x="465242" y="66144"/>
                  <a:pt x="495510" y="125020"/>
                  <a:pt x="493782" y="187341"/>
                </a:cubicBezTo>
                <a:cubicBezTo>
                  <a:pt x="493442" y="199793"/>
                  <a:pt x="491844" y="212179"/>
                  <a:pt x="489013" y="224310"/>
                </a:cubicBezTo>
                <a:cubicBezTo>
                  <a:pt x="466635" y="318465"/>
                  <a:pt x="374690" y="378811"/>
                  <a:pt x="279406" y="361881"/>
                </a:cubicBezTo>
                <a:lnTo>
                  <a:pt x="257314" y="357998"/>
                </a:lnTo>
                <a:cubicBezTo>
                  <a:pt x="245299" y="357998"/>
                  <a:pt x="240845" y="363511"/>
                  <a:pt x="236564" y="37064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50">
              <a:solidFill>
                <a:srgbClr val="7C7D7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5" name="Google Shape;525;p32"/>
          <p:cNvSpPr/>
          <p:nvPr/>
        </p:nvSpPr>
        <p:spPr>
          <a:xfrm>
            <a:off x="2781034" y="2308304"/>
            <a:ext cx="1790571" cy="2295694"/>
          </a:xfrm>
          <a:custGeom>
            <a:avLst/>
            <a:gdLst/>
            <a:ahLst/>
            <a:cxnLst/>
            <a:rect l="l" t="t" r="r" b="b"/>
            <a:pathLst>
              <a:path w="530147" h="679702" extrusionOk="0">
                <a:moveTo>
                  <a:pt x="52553" y="32"/>
                </a:moveTo>
                <a:lnTo>
                  <a:pt x="258579" y="305546"/>
                </a:lnTo>
                <a:cubicBezTo>
                  <a:pt x="262256" y="310995"/>
                  <a:pt x="266075" y="316617"/>
                  <a:pt x="271627" y="320045"/>
                </a:cubicBezTo>
                <a:cubicBezTo>
                  <a:pt x="283218" y="327252"/>
                  <a:pt x="298096" y="323151"/>
                  <a:pt x="311420" y="320327"/>
                </a:cubicBezTo>
                <a:cubicBezTo>
                  <a:pt x="377945" y="306207"/>
                  <a:pt x="451434" y="333164"/>
                  <a:pt x="493057" y="386917"/>
                </a:cubicBezTo>
                <a:cubicBezTo>
                  <a:pt x="527625" y="431563"/>
                  <a:pt x="538761" y="492884"/>
                  <a:pt x="524127" y="547254"/>
                </a:cubicBezTo>
                <a:lnTo>
                  <a:pt x="524018" y="547639"/>
                </a:lnTo>
                <a:cubicBezTo>
                  <a:pt x="499205" y="639235"/>
                  <a:pt x="400627" y="697963"/>
                  <a:pt x="307723" y="675069"/>
                </a:cubicBezTo>
                <a:cubicBezTo>
                  <a:pt x="254670" y="661988"/>
                  <a:pt x="207445" y="624768"/>
                  <a:pt x="184294" y="575071"/>
                </a:cubicBezTo>
                <a:cubicBezTo>
                  <a:pt x="155592" y="513455"/>
                  <a:pt x="165309" y="435729"/>
                  <a:pt x="208362" y="383098"/>
                </a:cubicBezTo>
                <a:cubicBezTo>
                  <a:pt x="213099" y="377322"/>
                  <a:pt x="218439" y="371257"/>
                  <a:pt x="219177" y="363798"/>
                </a:cubicBezTo>
                <a:cubicBezTo>
                  <a:pt x="219922" y="355917"/>
                  <a:pt x="215288" y="348600"/>
                  <a:pt x="210872" y="342027"/>
                </a:cubicBezTo>
                <a:lnTo>
                  <a:pt x="32" y="29769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50">
              <a:solidFill>
                <a:srgbClr val="7C7D7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6" name="Google Shape;526;p32"/>
          <p:cNvSpPr/>
          <p:nvPr/>
        </p:nvSpPr>
        <p:spPr>
          <a:xfrm>
            <a:off x="2240104" y="1575475"/>
            <a:ext cx="847594" cy="847607"/>
          </a:xfrm>
          <a:custGeom>
            <a:avLst/>
            <a:gdLst/>
            <a:ahLst/>
            <a:cxnLst/>
            <a:rect l="l" t="t" r="r" b="b"/>
            <a:pathLst>
              <a:path w="250953" h="250957" extrusionOk="0">
                <a:moveTo>
                  <a:pt x="212378" y="216686"/>
                </a:moveTo>
                <a:cubicBezTo>
                  <a:pt x="197643" y="230758"/>
                  <a:pt x="179683" y="241001"/>
                  <a:pt x="160069" y="246519"/>
                </a:cubicBezTo>
                <a:cubicBezTo>
                  <a:pt x="156636" y="247514"/>
                  <a:pt x="153176" y="248361"/>
                  <a:pt x="149601" y="249028"/>
                </a:cubicBezTo>
                <a:cubicBezTo>
                  <a:pt x="81491" y="262250"/>
                  <a:pt x="15537" y="217713"/>
                  <a:pt x="2347" y="149602"/>
                </a:cubicBezTo>
                <a:cubicBezTo>
                  <a:pt x="-10842" y="81490"/>
                  <a:pt x="33668" y="15529"/>
                  <a:pt x="101779" y="2346"/>
                </a:cubicBezTo>
                <a:cubicBezTo>
                  <a:pt x="169889" y="-10837"/>
                  <a:pt x="235850" y="33661"/>
                  <a:pt x="249084" y="101772"/>
                </a:cubicBezTo>
                <a:cubicBezTo>
                  <a:pt x="257262" y="143831"/>
                  <a:pt x="243423" y="187156"/>
                  <a:pt x="212378" y="21668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50">
              <a:solidFill>
                <a:srgbClr val="7C7D7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7" name="Google Shape;527;p32"/>
          <p:cNvSpPr/>
          <p:nvPr/>
        </p:nvSpPr>
        <p:spPr>
          <a:xfrm>
            <a:off x="846625" y="3379713"/>
            <a:ext cx="2696697" cy="1220466"/>
          </a:xfrm>
          <a:custGeom>
            <a:avLst/>
            <a:gdLst/>
            <a:ahLst/>
            <a:cxnLst/>
            <a:rect l="l" t="t" r="r" b="b"/>
            <a:pathLst>
              <a:path w="798430" h="361352" extrusionOk="0">
                <a:moveTo>
                  <a:pt x="798534" y="211313"/>
                </a:moveTo>
                <a:lnTo>
                  <a:pt x="395018" y="211525"/>
                </a:lnTo>
                <a:cubicBezTo>
                  <a:pt x="386925" y="211525"/>
                  <a:pt x="378517" y="211595"/>
                  <a:pt x="371200" y="215093"/>
                </a:cubicBezTo>
                <a:cubicBezTo>
                  <a:pt x="364140" y="218527"/>
                  <a:pt x="359249" y="224496"/>
                  <a:pt x="355360" y="231428"/>
                </a:cubicBezTo>
                <a:cubicBezTo>
                  <a:pt x="351721" y="237847"/>
                  <a:pt x="348942" y="245138"/>
                  <a:pt x="346098" y="251890"/>
                </a:cubicBezTo>
                <a:cubicBezTo>
                  <a:pt x="316164" y="321914"/>
                  <a:pt x="238047" y="368113"/>
                  <a:pt x="162261" y="360546"/>
                </a:cubicBezTo>
                <a:cubicBezTo>
                  <a:pt x="153258" y="359640"/>
                  <a:pt x="144346" y="357998"/>
                  <a:pt x="135612" y="355636"/>
                </a:cubicBezTo>
                <a:cubicBezTo>
                  <a:pt x="71134" y="338306"/>
                  <a:pt x="17195" y="283385"/>
                  <a:pt x="3518" y="217712"/>
                </a:cubicBezTo>
                <a:cubicBezTo>
                  <a:pt x="-10833" y="148786"/>
                  <a:pt x="20167" y="73177"/>
                  <a:pt x="77463" y="32742"/>
                </a:cubicBezTo>
                <a:cubicBezTo>
                  <a:pt x="128289" y="-3201"/>
                  <a:pt x="196759" y="-10068"/>
                  <a:pt x="253964" y="14854"/>
                </a:cubicBezTo>
                <a:cubicBezTo>
                  <a:pt x="245056" y="30617"/>
                  <a:pt x="236160" y="46404"/>
                  <a:pt x="227277" y="62215"/>
                </a:cubicBezTo>
                <a:cubicBezTo>
                  <a:pt x="245419" y="70341"/>
                  <a:pt x="261926" y="81710"/>
                  <a:pt x="275985" y="95764"/>
                </a:cubicBezTo>
                <a:cubicBezTo>
                  <a:pt x="285600" y="80141"/>
                  <a:pt x="295227" y="64541"/>
                  <a:pt x="304868" y="48961"/>
                </a:cubicBezTo>
                <a:cubicBezTo>
                  <a:pt x="326598" y="68425"/>
                  <a:pt x="342814" y="93273"/>
                  <a:pt x="351881" y="121001"/>
                </a:cubicBezTo>
                <a:cubicBezTo>
                  <a:pt x="355309" y="131495"/>
                  <a:pt x="358595" y="143587"/>
                  <a:pt x="368427" y="148599"/>
                </a:cubicBezTo>
                <a:cubicBezTo>
                  <a:pt x="373690" y="151321"/>
                  <a:pt x="379878" y="151359"/>
                  <a:pt x="385757" y="151359"/>
                </a:cubicBezTo>
                <a:cubicBezTo>
                  <a:pt x="523325" y="151462"/>
                  <a:pt x="660890" y="151543"/>
                  <a:pt x="798450" y="151603"/>
                </a:cubicBezTo>
                <a:cubicBezTo>
                  <a:pt x="794857" y="171347"/>
                  <a:pt x="794885" y="191580"/>
                  <a:pt x="798534" y="21131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50">
              <a:solidFill>
                <a:srgbClr val="7C7D7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8" name="Google Shape;528;p32"/>
          <p:cNvSpPr/>
          <p:nvPr/>
        </p:nvSpPr>
        <p:spPr>
          <a:xfrm>
            <a:off x="1019735" y="3562228"/>
            <a:ext cx="869271" cy="869284"/>
          </a:xfrm>
          <a:custGeom>
            <a:avLst/>
            <a:gdLst/>
            <a:ahLst/>
            <a:cxnLst/>
            <a:rect l="l" t="t" r="r" b="b"/>
            <a:pathLst>
              <a:path w="257371" h="257375" extrusionOk="0">
                <a:moveTo>
                  <a:pt x="257853" y="128977"/>
                </a:moveTo>
                <a:cubicBezTo>
                  <a:pt x="257853" y="200169"/>
                  <a:pt x="200134" y="257889"/>
                  <a:pt x="128943" y="257889"/>
                </a:cubicBezTo>
                <a:cubicBezTo>
                  <a:pt x="57752" y="257889"/>
                  <a:pt x="32" y="200169"/>
                  <a:pt x="32" y="128977"/>
                </a:cubicBezTo>
                <a:cubicBezTo>
                  <a:pt x="32" y="57785"/>
                  <a:pt x="57758" y="32"/>
                  <a:pt x="128943" y="32"/>
                </a:cubicBezTo>
                <a:cubicBezTo>
                  <a:pt x="200113" y="8"/>
                  <a:pt x="257829" y="57683"/>
                  <a:pt x="257853" y="128855"/>
                </a:cubicBezTo>
                <a:cubicBezTo>
                  <a:pt x="257853" y="128896"/>
                  <a:pt x="257853" y="128936"/>
                  <a:pt x="257853" y="12897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50">
              <a:solidFill>
                <a:srgbClr val="7C7D7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9" name="Google Shape;529;p32"/>
          <p:cNvSpPr/>
          <p:nvPr/>
        </p:nvSpPr>
        <p:spPr>
          <a:xfrm>
            <a:off x="3536397" y="3567610"/>
            <a:ext cx="847594" cy="847607"/>
          </a:xfrm>
          <a:custGeom>
            <a:avLst/>
            <a:gdLst/>
            <a:ahLst/>
            <a:cxnLst/>
            <a:rect l="l" t="t" r="r" b="b"/>
            <a:pathLst>
              <a:path w="250953" h="250957" extrusionOk="0">
                <a:moveTo>
                  <a:pt x="251384" y="125652"/>
                </a:moveTo>
                <a:cubicBezTo>
                  <a:pt x="251416" y="195062"/>
                  <a:pt x="195175" y="251356"/>
                  <a:pt x="125766" y="251388"/>
                </a:cubicBezTo>
                <a:cubicBezTo>
                  <a:pt x="56357" y="251419"/>
                  <a:pt x="64" y="195178"/>
                  <a:pt x="32" y="125768"/>
                </a:cubicBezTo>
                <a:cubicBezTo>
                  <a:pt x="1" y="56358"/>
                  <a:pt x="56242" y="64"/>
                  <a:pt x="125650" y="32"/>
                </a:cubicBezTo>
                <a:cubicBezTo>
                  <a:pt x="125676" y="32"/>
                  <a:pt x="125702" y="32"/>
                  <a:pt x="125727" y="32"/>
                </a:cubicBezTo>
                <a:cubicBezTo>
                  <a:pt x="195134" y="32"/>
                  <a:pt x="251384" y="56289"/>
                  <a:pt x="251384" y="12565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50">
              <a:solidFill>
                <a:srgbClr val="7C7D7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7" name="Google Shape;547;p32"/>
          <p:cNvSpPr/>
          <p:nvPr/>
        </p:nvSpPr>
        <p:spPr>
          <a:xfrm>
            <a:off x="5189025" y="1583500"/>
            <a:ext cx="637200" cy="637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idact Gothic" panose="00000500000000000000"/>
              <a:ea typeface="Didact Gothic" panose="00000500000000000000"/>
              <a:cs typeface="Didact Gothic" panose="00000500000000000000"/>
              <a:sym typeface="Didact Gothic" panose="00000500000000000000"/>
            </a:endParaRPr>
          </a:p>
        </p:txBody>
      </p:sp>
      <p:sp>
        <p:nvSpPr>
          <p:cNvPr id="548" name="Google Shape;548;p32"/>
          <p:cNvSpPr/>
          <p:nvPr/>
        </p:nvSpPr>
        <p:spPr>
          <a:xfrm>
            <a:off x="5189025" y="2542175"/>
            <a:ext cx="637200" cy="637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idact Gothic" panose="00000500000000000000"/>
              <a:ea typeface="Didact Gothic" panose="00000500000000000000"/>
              <a:cs typeface="Didact Gothic" panose="00000500000000000000"/>
              <a:sym typeface="Didact Gothic" panose="00000500000000000000"/>
            </a:endParaRPr>
          </a:p>
        </p:txBody>
      </p:sp>
      <p:sp>
        <p:nvSpPr>
          <p:cNvPr id="549" name="Google Shape;549;p32"/>
          <p:cNvSpPr/>
          <p:nvPr/>
        </p:nvSpPr>
        <p:spPr>
          <a:xfrm>
            <a:off x="5189025" y="3500850"/>
            <a:ext cx="637200" cy="63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idact Gothic" panose="00000500000000000000"/>
              <a:ea typeface="Didact Gothic" panose="00000500000000000000"/>
              <a:cs typeface="Didact Gothic" panose="00000500000000000000"/>
              <a:sym typeface="Didact Gothic" panose="00000500000000000000"/>
            </a:endParaRPr>
          </a:p>
        </p:txBody>
      </p:sp>
      <p:sp>
        <p:nvSpPr>
          <p:cNvPr id="550" name="Google Shape;550;p32"/>
          <p:cNvSpPr txBox="1"/>
          <p:nvPr>
            <p:ph type="subTitle" idx="4294967295"/>
          </p:nvPr>
        </p:nvSpPr>
        <p:spPr>
          <a:xfrm>
            <a:off x="6032125" y="1909981"/>
            <a:ext cx="239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Combine pose completion + attention + TTF regression</a:t>
            </a:r>
            <a:endParaRPr lang="en-US" altLang="en-US"/>
          </a:p>
        </p:txBody>
      </p:sp>
      <p:sp>
        <p:nvSpPr>
          <p:cNvPr id="551" name="Google Shape;551;p32"/>
          <p:cNvSpPr txBox="1"/>
          <p:nvPr>
            <p:ph type="subTitle" idx="4294967295"/>
          </p:nvPr>
        </p:nvSpPr>
        <p:spPr>
          <a:xfrm>
            <a:off x="6031400" y="3844072"/>
            <a:ext cx="239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Fall prevention, not just detection</a:t>
            </a:r>
            <a:endParaRPr lang="en-US" altLang="en-US"/>
          </a:p>
        </p:txBody>
      </p:sp>
      <p:sp>
        <p:nvSpPr>
          <p:cNvPr id="552" name="Google Shape;552;p32"/>
          <p:cNvSpPr txBox="1"/>
          <p:nvPr>
            <p:ph type="subTitle" idx="4294967295"/>
          </p:nvPr>
        </p:nvSpPr>
        <p:spPr>
          <a:xfrm>
            <a:off x="6031230" y="2874010"/>
            <a:ext cx="2661285" cy="5727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Multi-person ready, real-time capable</a:t>
            </a:r>
            <a:endParaRPr lang="en-US" altLang="en-US"/>
          </a:p>
        </p:txBody>
      </p:sp>
      <p:sp>
        <p:nvSpPr>
          <p:cNvPr id="553" name="Google Shape;553;p32"/>
          <p:cNvSpPr txBox="1"/>
          <p:nvPr>
            <p:ph type="subTitle" idx="4294967295"/>
          </p:nvPr>
        </p:nvSpPr>
        <p:spPr>
          <a:xfrm>
            <a:off x="6031400" y="2542175"/>
            <a:ext cx="2398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Multiple people</a:t>
            </a:r>
            <a:endParaRPr lang="en-US" altLang="en-GB" sz="1800" b="1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554" name="Google Shape;554;p32"/>
          <p:cNvSpPr txBox="1"/>
          <p:nvPr>
            <p:ph type="subTitle" idx="4294967295"/>
          </p:nvPr>
        </p:nvSpPr>
        <p:spPr>
          <a:xfrm>
            <a:off x="6031230" y="3509010"/>
            <a:ext cx="2658745" cy="4476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3 Stage fall detection</a:t>
            </a:r>
            <a:endParaRPr lang="en-US" altLang="en-GB" sz="1800" b="1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555" name="Google Shape;555;p32"/>
          <p:cNvSpPr txBox="1"/>
          <p:nvPr>
            <p:ph type="subTitle" idx="4294967295"/>
          </p:nvPr>
        </p:nvSpPr>
        <p:spPr>
          <a:xfrm>
            <a:off x="6032125" y="1575475"/>
            <a:ext cx="2398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8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First</a:t>
            </a:r>
            <a:endParaRPr lang="en-US" altLang="en-GB" sz="1800" b="1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5325745" y="2686050"/>
            <a:ext cx="353060" cy="348615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723005" y="3723640"/>
            <a:ext cx="474345" cy="47625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1175385" y="3723640"/>
            <a:ext cx="558165" cy="551815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5363845" y="3661410"/>
            <a:ext cx="310515" cy="316230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4"/>
          <a:stretch>
            <a:fillRect/>
          </a:stretch>
        </p:blipFill>
        <p:spPr>
          <a:xfrm>
            <a:off x="5307965" y="1732280"/>
            <a:ext cx="370840" cy="344170"/>
          </a:xfrm>
          <a:prstGeom prst="rect">
            <a:avLst/>
          </a:prstGeom>
        </p:spPr>
      </p:pic>
      <p:pic>
        <p:nvPicPr>
          <p:cNvPr id="12" name="Picture 11"/>
          <p:cNvPicPr/>
          <p:nvPr/>
        </p:nvPicPr>
        <p:blipFill>
          <a:blip r:embed="rId4"/>
          <a:stretch>
            <a:fillRect/>
          </a:stretch>
        </p:blipFill>
        <p:spPr>
          <a:xfrm>
            <a:off x="2411730" y="1732915"/>
            <a:ext cx="515620" cy="5175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/>
              <a:t>Development Progress</a:t>
            </a:r>
            <a:endParaRPr lang="en-US" altLang="en-US"/>
          </a:p>
        </p:txBody>
      </p:sp>
      <p:graphicFrame>
        <p:nvGraphicFramePr>
          <p:cNvPr id="3" name="Table 2"/>
          <p:cNvGraphicFramePr/>
          <p:nvPr>
            <p:custDataLst>
              <p:tags r:id="rId1"/>
            </p:custDataLst>
          </p:nvPr>
        </p:nvGraphicFramePr>
        <p:xfrm>
          <a:off x="827405" y="1419860"/>
          <a:ext cx="7504430" cy="318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9640"/>
                <a:gridCol w="403479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Task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Status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</a:rPr>
                        <a:t>Dataset exploration</a:t>
                      </a:r>
                      <a:endParaRPr lang="en-US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</a:rPr>
                        <a:t>In progress </a:t>
                      </a:r>
                      <a:r>
                        <a:rPr lang="en-US" altLang="en-US" sz="1200">
                          <a:solidFill>
                            <a:schemeClr val="tx1"/>
                          </a:solidFill>
                        </a:rPr>
                        <a:t>(analyzing UP-Fall, reviewing options)</a:t>
                      </a:r>
                      <a:endParaRPr lang="en-US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</a:rPr>
                        <a:t>Pose extraction (YOLOv8-pose)</a:t>
                      </a:r>
                      <a:endParaRPr lang="en-US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</a:rPr>
                        <a:t>Planned</a:t>
                      </a:r>
                      <a:endParaRPr lang="en-US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</a:rPr>
                        <a:t>Pose completion</a:t>
                      </a:r>
                      <a:endParaRPr lang="en-US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</a:rPr>
                        <a:t>Studying techniques</a:t>
                      </a:r>
                      <a:r>
                        <a:rPr lang="en-US" altLang="en-US" sz="1200">
                          <a:solidFill>
                            <a:schemeClr val="tx1"/>
                          </a:solidFill>
                        </a:rPr>
                        <a:t> (MLP, AutoEncoder)</a:t>
                      </a:r>
                      <a:endParaRPr lang="en-US" alt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</a:rPr>
                        <a:t>Annotation (Pre-fall, TTF)</a:t>
                      </a:r>
                      <a:endParaRPr lang="en-US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</a:rPr>
                        <a:t>To be designed</a:t>
                      </a:r>
                      <a:endParaRPr lang="en-US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</a:rPr>
                        <a:t>Model structure comparison</a:t>
                      </a:r>
                      <a:endParaRPr lang="en-US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</a:rPr>
                        <a:t>CNN, TCN, Transformer analysis ongoing</a:t>
                      </a:r>
                      <a:endParaRPr lang="en-US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</a:rPr>
                        <a:t>Training</a:t>
                      </a:r>
                      <a:endParaRPr lang="en-US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</a:rPr>
                        <a:t>Not started</a:t>
                      </a:r>
                      <a:endParaRPr lang="en-US" altLang="en-US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</a:rPr>
                        <a:t>Evaluation</a:t>
                      </a:r>
                      <a:endParaRPr lang="en-US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</a:rPr>
                        <a:t>Not started</a:t>
                      </a:r>
                      <a:endParaRPr lang="en-US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8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Technical Challenges</a:t>
            </a:r>
            <a:endParaRPr lang="en-US" altLang="en-US"/>
          </a:p>
        </p:txBody>
      </p:sp>
      <p:sp>
        <p:nvSpPr>
          <p:cNvPr id="351" name="Google Shape;351;p28"/>
          <p:cNvSpPr/>
          <p:nvPr/>
        </p:nvSpPr>
        <p:spPr>
          <a:xfrm rot="5400000">
            <a:off x="3606392" y="1852325"/>
            <a:ext cx="1002900" cy="8688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idact Gothic" panose="00000500000000000000"/>
              <a:ea typeface="Didact Gothic" panose="00000500000000000000"/>
              <a:cs typeface="Didact Gothic" panose="00000500000000000000"/>
              <a:sym typeface="Didact Gothic" panose="00000500000000000000"/>
            </a:endParaRPr>
          </a:p>
        </p:txBody>
      </p:sp>
      <p:sp>
        <p:nvSpPr>
          <p:cNvPr id="352" name="Google Shape;352;p28"/>
          <p:cNvSpPr/>
          <p:nvPr/>
        </p:nvSpPr>
        <p:spPr>
          <a:xfrm rot="5400000">
            <a:off x="4547539" y="1852325"/>
            <a:ext cx="1002900" cy="8688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idact Gothic" panose="00000500000000000000"/>
              <a:ea typeface="Didact Gothic" panose="00000500000000000000"/>
              <a:cs typeface="Didact Gothic" panose="00000500000000000000"/>
              <a:sym typeface="Didact Gothic" panose="00000500000000000000"/>
            </a:endParaRPr>
          </a:p>
        </p:txBody>
      </p:sp>
      <p:sp>
        <p:nvSpPr>
          <p:cNvPr id="353" name="Google Shape;353;p28"/>
          <p:cNvSpPr/>
          <p:nvPr/>
        </p:nvSpPr>
        <p:spPr>
          <a:xfrm rot="5400000">
            <a:off x="4073425" y="2778736"/>
            <a:ext cx="1002900" cy="8688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idact Gothic" panose="00000500000000000000"/>
              <a:ea typeface="Didact Gothic" panose="00000500000000000000"/>
              <a:cs typeface="Didact Gothic" panose="00000500000000000000"/>
              <a:sym typeface="Didact Gothic" panose="00000500000000000000"/>
            </a:endParaRPr>
          </a:p>
        </p:txBody>
      </p:sp>
      <p:sp>
        <p:nvSpPr>
          <p:cNvPr id="358" name="Google Shape;358;p28"/>
          <p:cNvSpPr txBox="1"/>
          <p:nvPr>
            <p:ph type="subTitle" idx="4294967295"/>
          </p:nvPr>
        </p:nvSpPr>
        <p:spPr>
          <a:xfrm>
            <a:off x="3756700" y="2034725"/>
            <a:ext cx="7023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lt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01</a:t>
            </a:r>
            <a:endParaRPr sz="2400" b="1">
              <a:solidFill>
                <a:schemeClr val="lt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59" name="Google Shape;359;p28"/>
          <p:cNvSpPr txBox="1"/>
          <p:nvPr>
            <p:ph type="subTitle" idx="4294967295"/>
          </p:nvPr>
        </p:nvSpPr>
        <p:spPr>
          <a:xfrm>
            <a:off x="4697850" y="2034725"/>
            <a:ext cx="7023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02</a:t>
            </a:r>
            <a:endParaRPr sz="2400" b="1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62" name="Google Shape;362;p28"/>
          <p:cNvSpPr txBox="1"/>
          <p:nvPr>
            <p:ph type="subTitle" idx="4294967295"/>
          </p:nvPr>
        </p:nvSpPr>
        <p:spPr>
          <a:xfrm>
            <a:off x="4223725" y="2963535"/>
            <a:ext cx="7023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03</a:t>
            </a:r>
            <a:endParaRPr sz="2400" b="1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63" name="Google Shape;363;p28"/>
          <p:cNvSpPr txBox="1"/>
          <p:nvPr>
            <p:ph type="subTitle" idx="4294967295"/>
          </p:nvPr>
        </p:nvSpPr>
        <p:spPr>
          <a:xfrm>
            <a:off x="5652135" y="1983740"/>
            <a:ext cx="2337435" cy="6413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Manual annotation time</a:t>
            </a:r>
            <a:endParaRPr lang="en-US" altLang="en-US" sz="1800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69" name="Google Shape;369;p28"/>
          <p:cNvSpPr txBox="1"/>
          <p:nvPr>
            <p:ph type="subTitle" idx="4294967295"/>
          </p:nvPr>
        </p:nvSpPr>
        <p:spPr>
          <a:xfrm>
            <a:off x="1069340" y="1919605"/>
            <a:ext cx="2337435" cy="70548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Frame-label alignment</a:t>
            </a:r>
            <a:endParaRPr lang="en-US" altLang="en-US" sz="1800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" name="Google Shape;369;p28"/>
          <p:cNvSpPr txBox="1"/>
          <p:nvPr/>
        </p:nvSpPr>
        <p:spPr>
          <a:xfrm>
            <a:off x="3131820" y="3537585"/>
            <a:ext cx="2823210" cy="95123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Keeping FPS high while adding complexity</a:t>
            </a:r>
            <a:endParaRPr lang="en-US" altLang="en-US" sz="1800"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9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Conclusion &amp; Final Thoughts</a:t>
            </a:r>
            <a:endParaRPr lang="en-US" altLang="en-US"/>
          </a:p>
        </p:txBody>
      </p:sp>
      <p:sp>
        <p:nvSpPr>
          <p:cNvPr id="1" name="Text Box 0"/>
          <p:cNvSpPr txBox="1"/>
          <p:nvPr/>
        </p:nvSpPr>
        <p:spPr>
          <a:xfrm>
            <a:off x="899795" y="1347470"/>
            <a:ext cx="7227570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We proposing a</a:t>
            </a:r>
            <a:r>
              <a:rPr lang="en-US" altLang="zh-CN" sz="1600" b="1"/>
              <a:t> real-time vision-based fall detection system</a:t>
            </a:r>
            <a:r>
              <a:rPr lang="en-US" altLang="zh-CN" sz="1600"/>
              <a:t> tailored for </a:t>
            </a:r>
            <a:r>
              <a:rPr lang="en-US" altLang="zh-CN" sz="1600" b="1"/>
              <a:t>construction site environments</a:t>
            </a:r>
            <a:endParaRPr lang="en-US" altLang="zh-CN" sz="1600" b="1"/>
          </a:p>
        </p:txBody>
      </p:sp>
      <p:sp>
        <p:nvSpPr>
          <p:cNvPr id="2" name="Text Box 1"/>
          <p:cNvSpPr txBox="1"/>
          <p:nvPr/>
        </p:nvSpPr>
        <p:spPr>
          <a:xfrm>
            <a:off x="899795" y="2139950"/>
            <a:ext cx="5080000" cy="166052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800" b="1">
                <a:solidFill>
                  <a:schemeClr val="tx2"/>
                </a:solidFill>
              </a:rPr>
              <a:t>Our model handles:</a:t>
            </a:r>
            <a:endParaRPr lang="en-US" altLang="zh-CN" sz="1600" b="1">
              <a:solidFill>
                <a:schemeClr val="tx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/>
              <a:t> → </a:t>
            </a:r>
            <a:r>
              <a:rPr lang="en-US" altLang="zh-CN" b="1"/>
              <a:t>Occlusion</a:t>
            </a:r>
            <a:r>
              <a:rPr lang="en-US" altLang="zh-CN"/>
              <a:t> via Pose Completion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 → </a:t>
            </a:r>
            <a:r>
              <a:rPr lang="en-US" altLang="zh-CN" b="1"/>
              <a:t>Short-term motion</a:t>
            </a:r>
            <a:r>
              <a:rPr lang="en-US" altLang="zh-CN"/>
              <a:t> via CNN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 → </a:t>
            </a:r>
            <a:r>
              <a:rPr lang="en-US" altLang="zh-CN" b="1"/>
              <a:t>Temporal patterns</a:t>
            </a:r>
            <a:r>
              <a:rPr lang="en-US" altLang="zh-CN"/>
              <a:t> via Transformer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 → </a:t>
            </a:r>
            <a:r>
              <a:rPr lang="en-US" altLang="zh-CN" b="1"/>
              <a:t>Fall risk</a:t>
            </a:r>
            <a:r>
              <a:rPr lang="en-US" altLang="zh-CN"/>
              <a:t> via Classification + Regression</a:t>
            </a:r>
            <a:endParaRPr lang="en-US" altLang="zh-CN"/>
          </a:p>
        </p:txBody>
      </p:sp>
      <p:sp>
        <p:nvSpPr>
          <p:cNvPr id="3" name="Text Box 2"/>
          <p:cNvSpPr txBox="1"/>
          <p:nvPr/>
        </p:nvSpPr>
        <p:spPr>
          <a:xfrm>
            <a:off x="2267585" y="4443413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algn="ctr"/>
            <a:r>
              <a:rPr lang="zh-CN" altLang="en-US" sz="1200" i="1">
                <a:solidFill>
                  <a:schemeClr val="bg1">
                    <a:lumMod val="50000"/>
                  </a:schemeClr>
                </a:solidFill>
              </a:rPr>
              <a:t>🛠</a:t>
            </a:r>
            <a:r>
              <a:rPr lang="" altLang="en-US" sz="1200" i="1">
                <a:solidFill>
                  <a:schemeClr val="bg1">
                    <a:lumMod val="50000"/>
                  </a:schemeClr>
                </a:solidFill>
              </a:rPr>
              <a:t>️</a:t>
            </a:r>
            <a:r>
              <a:rPr lang="en-US" altLang="en-US" sz="1200" i="1">
                <a:solidFill>
                  <a:schemeClr val="bg1">
                    <a:lumMod val="50000"/>
                  </a:schemeClr>
                </a:solidFill>
              </a:rPr>
              <a:t> Currently under development – focusing on:</a:t>
            </a:r>
            <a:endParaRPr lang="en-US" altLang="en-US" sz="1200" i="1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en-US" sz="1200" i="1">
                <a:solidFill>
                  <a:schemeClr val="bg1">
                    <a:lumMod val="50000"/>
                  </a:schemeClr>
                </a:solidFill>
              </a:rPr>
              <a:t>→ Annotation, model training, real-time optimization</a:t>
            </a:r>
            <a:endParaRPr lang="en-US" altLang="en-US" sz="1200" i="1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7"/>
          <p:cNvSpPr txBox="1"/>
          <p:nvPr>
            <p:ph type="title"/>
          </p:nvPr>
        </p:nvSpPr>
        <p:spPr>
          <a:xfrm>
            <a:off x="1355163" y="7312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Thanks!</a:t>
            </a:r>
            <a:endParaRPr lang="en-GB"/>
          </a:p>
        </p:txBody>
      </p:sp>
      <p:sp>
        <p:nvSpPr>
          <p:cNvPr id="735" name="Google Shape;735;p37"/>
          <p:cNvSpPr txBox="1"/>
          <p:nvPr>
            <p:ph type="subTitle" idx="1"/>
          </p:nvPr>
        </p:nvSpPr>
        <p:spPr>
          <a:xfrm>
            <a:off x="1355090" y="1984375"/>
            <a:ext cx="4448175" cy="6578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Do you have any questions?</a:t>
            </a:r>
            <a:endParaRPr lang="en-US" altLang="en-GB"/>
          </a:p>
        </p:txBody>
      </p:sp>
      <p:cxnSp>
        <p:nvCxnSpPr>
          <p:cNvPr id="737" name="Google Shape;737;p37"/>
          <p:cNvCxnSpPr/>
          <p:nvPr/>
        </p:nvCxnSpPr>
        <p:spPr>
          <a:xfrm>
            <a:off x="1431100" y="1838775"/>
            <a:ext cx="5835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Box 2"/>
          <p:cNvSpPr txBox="1"/>
          <p:nvPr/>
        </p:nvSpPr>
        <p:spPr>
          <a:xfrm>
            <a:off x="1403350" y="2571750"/>
            <a:ext cx="4572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200">
                <a:solidFill>
                  <a:schemeClr val="bg2"/>
                </a:solidFill>
                <a:sym typeface="+mn-ea"/>
              </a:rPr>
              <a:t>www.abbosaliboev.site</a:t>
            </a:r>
            <a:endParaRPr lang="en-US" altLang="en-GB" sz="1200">
              <a:solidFill>
                <a:schemeClr val="bg2"/>
              </a:solidFill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44.12409448818897,&quot;left&quot;:59.492913385826775,&quot;top&quot;:120.17590551181101,&quot;width&quot;:627.7070866141732}"/>
</p:tagLst>
</file>

<file path=ppt/tags/tag2.xml><?xml version="1.0" encoding="utf-8"?>
<p:tagLst xmlns:p="http://schemas.openxmlformats.org/presentationml/2006/main">
  <p:tag name="KSO_WM_DIAGRAM_VIRTUALLY_FRAME" val="{&quot;height&quot;:144.12409448818897,&quot;left&quot;:59.492913385826775,&quot;top&quot;:120.17590551181101,&quot;width&quot;:627.7070866141732}"/>
</p:tagLst>
</file>

<file path=ppt/tags/tag3.xml><?xml version="1.0" encoding="utf-8"?>
<p:tagLst xmlns:p="http://schemas.openxmlformats.org/presentationml/2006/main">
  <p:tag name="KSO_WM_DIAGRAM_VIRTUALLY_FRAME" val="{&quot;height&quot;:144.12409448818897,&quot;left&quot;:59.492913385826775,&quot;top&quot;:120.17590551181101,&quot;width&quot;:627.7070866141732}"/>
</p:tagLst>
</file>

<file path=ppt/tags/tag4.xml><?xml version="1.0" encoding="utf-8"?>
<p:tagLst xmlns:p="http://schemas.openxmlformats.org/presentationml/2006/main">
  <p:tag name="KSO_WM_DIAGRAM_VIRTUALLY_FRAME" val="{&quot;height&quot;:144.12409448818897,&quot;left&quot;:59.492913385826775,&quot;top&quot;:120.17590551181101,&quot;width&quot;:627.7070866141732}"/>
</p:tagLst>
</file>

<file path=ppt/tags/tag5.xml><?xml version="1.0" encoding="utf-8"?>
<p:tagLst xmlns:p="http://schemas.openxmlformats.org/presentationml/2006/main">
  <p:tag name="KSO_WM_DIAGRAM_VIRTUALLY_FRAME" val="{&quot;height&quot;:144.12409448818897,&quot;left&quot;:59.492913385826775,&quot;top&quot;:120.17590551181101,&quot;width&quot;:627.7070866141732}"/>
</p:tagLst>
</file>

<file path=ppt/tags/tag6.xml><?xml version="1.0" encoding="utf-8"?>
<p:tagLst xmlns:p="http://schemas.openxmlformats.org/presentationml/2006/main">
  <p:tag name="KSO_WM_DIAGRAM_VIRTUALLY_FRAME" val="{&quot;height&quot;:144.12409448818897,&quot;left&quot;:59.492913385826775,&quot;top&quot;:120.17590551181101,&quot;width&quot;:627.7070866141732}"/>
</p:tagLst>
</file>

<file path=ppt/tags/tag7.xml><?xml version="1.0" encoding="utf-8"?>
<p:tagLst xmlns:p="http://schemas.openxmlformats.org/presentationml/2006/main">
  <p:tag name="KSO_WM_DIAGRAM_VIRTUALLY_FRAME" val="{&quot;height&quot;:144.12409448818897,&quot;left&quot;:59.492913385826775,&quot;top&quot;:120.17590551181101,&quot;width&quot;:627.7070866141732}"/>
</p:tagLst>
</file>

<file path=ppt/tags/tag8.xml><?xml version="1.0" encoding="utf-8"?>
<p:tagLst xmlns:p="http://schemas.openxmlformats.org/presentationml/2006/main">
  <p:tag name="KSO_WM_DIAGRAM_VIRTUALLY_FRAME" val="{&quot;height&quot;:144.12409448818897,&quot;left&quot;:59.492913385826775,&quot;top&quot;:120.17590551181101,&quot;width&quot;:627.7070866141732}"/>
</p:tagLst>
</file>

<file path=ppt/tags/tag9.xml><?xml version="1.0" encoding="utf-8"?>
<p:tagLst xmlns:p="http://schemas.openxmlformats.org/presentationml/2006/main">
  <p:tag name="KSO_WM_DIAGRAM_VIRTUALLY_FRAME" val="{&quot;height&quot;:144.12409448818897,&quot;left&quot;:59.492913385826775,&quot;top&quot;:120.17590551181101,&quot;width&quot;:627.7070866141732}"/>
</p:tagLst>
</file>

<file path=ppt/tags/tag10.xml><?xml version="1.0" encoding="utf-8"?>
<p:tagLst xmlns:p="http://schemas.openxmlformats.org/presentationml/2006/main">
  <p:tag name="KSO_WM_DIAGRAM_VIRTUALLY_FRAME" val="{&quot;height&quot;:144.12409448818897,&quot;left&quot;:59.492913385826775,&quot;top&quot;:120.17590551181101,&quot;width&quot;:627.7070866141732}"/>
</p:tagLst>
</file>

<file path=ppt/tags/tag11.xml><?xml version="1.0" encoding="utf-8"?>
<p:tagLst xmlns:p="http://schemas.openxmlformats.org/presentationml/2006/main">
  <p:tag name="KSO_WM_DIAGRAM_VIRTUALLY_FRAME" val="{&quot;height&quot;:144.12409448818897,&quot;left&quot;:59.492913385826775,&quot;top&quot;:120.17590551181101,&quot;width&quot;:627.7070866141732}"/>
</p:tagLst>
</file>

<file path=ppt/tags/tag12.xml><?xml version="1.0" encoding="utf-8"?>
<p:tagLst xmlns:p="http://schemas.openxmlformats.org/presentationml/2006/main">
  <p:tag name="KSO_WM_DIAGRAM_VIRTUALLY_FRAME" val="{&quot;height&quot;:144.12409448818897,&quot;left&quot;:59.492913385826775,&quot;top&quot;:120.17590551181101,&quot;width&quot;:627.7070866141732}"/>
</p:tagLst>
</file>

<file path=ppt/tags/tag13.xml><?xml version="1.0" encoding="utf-8"?>
<p:tagLst xmlns:p="http://schemas.openxmlformats.org/presentationml/2006/main">
  <p:tag name="KSO_WM_DIAGRAM_VIRTUALLY_FRAME" val="{&quot;height&quot;:144.12409448818897,&quot;left&quot;:59.492913385826775,&quot;top&quot;:120.17590551181101,&quot;width&quot;:627.7070866141732}"/>
</p:tagLst>
</file>

<file path=ppt/tags/tag14.xml><?xml version="1.0" encoding="utf-8"?>
<p:tagLst xmlns:p="http://schemas.openxmlformats.org/presentationml/2006/main">
  <p:tag name="KSO_WM_DIAGRAM_VIRTUALLY_FRAME" val="{&quot;height&quot;:144.12409448818897,&quot;left&quot;:59.492913385826775,&quot;top&quot;:120.17590551181101,&quot;width&quot;:627.7070866141732}"/>
</p:tagLst>
</file>

<file path=ppt/tags/tag15.xml><?xml version="1.0" encoding="utf-8"?>
<p:tagLst xmlns:p="http://schemas.openxmlformats.org/presentationml/2006/main">
  <p:tag name="KSO_WM_DIAGRAM_VIRTUALLY_FRAME" val="{&quot;height&quot;:86.7,&quot;left&quot;:65.15,&quot;top&quot;:244.65,&quot;width&quot;:613.05}"/>
</p:tagLst>
</file>

<file path=ppt/tags/tag16.xml><?xml version="1.0" encoding="utf-8"?>
<p:tagLst xmlns:p="http://schemas.openxmlformats.org/presentationml/2006/main">
  <p:tag name="KSO_WM_DIAGRAM_VIRTUALLY_FRAME" val="{&quot;height&quot;:86.7,&quot;left&quot;:65.15,&quot;top&quot;:244.65,&quot;width&quot;:613.05}"/>
</p:tagLst>
</file>

<file path=ppt/tags/tag17.xml><?xml version="1.0" encoding="utf-8"?>
<p:tagLst xmlns:p="http://schemas.openxmlformats.org/presentationml/2006/main">
  <p:tag name="KSO_WM_DIAGRAM_VIRTUALLY_FRAME" val="{&quot;height&quot;:86.7,&quot;left&quot;:65.15,&quot;top&quot;:244.65,&quot;width&quot;:613.05}"/>
</p:tagLst>
</file>

<file path=ppt/tags/tag18.xml><?xml version="1.0" encoding="utf-8"?>
<p:tagLst xmlns:p="http://schemas.openxmlformats.org/presentationml/2006/main">
  <p:tag name="KSO_WM_DIAGRAM_VIRTUALLY_FRAME" val="{&quot;height&quot;:86.7,&quot;left&quot;:65.15,&quot;top&quot;:244.65,&quot;width&quot;:613.05}"/>
</p:tagLst>
</file>

<file path=ppt/tags/tag19.xml><?xml version="1.0" encoding="utf-8"?>
<p:tagLst xmlns:p="http://schemas.openxmlformats.org/presentationml/2006/main">
  <p:tag name="KSO_WM_DIAGRAM_VIRTUALLY_FRAME" val="{&quot;height&quot;:86.7,&quot;left&quot;:65.15,&quot;top&quot;:244.65,&quot;width&quot;:613.05}"/>
</p:tagLst>
</file>

<file path=ppt/tags/tag20.xml><?xml version="1.0" encoding="utf-8"?>
<p:tagLst xmlns:p="http://schemas.openxmlformats.org/presentationml/2006/main">
  <p:tag name="KSO_WM_DIAGRAM_VIRTUALLY_FRAME" val="{&quot;height&quot;:86.7,&quot;left&quot;:65.15,&quot;top&quot;:244.65,&quot;width&quot;:613.05}"/>
</p:tagLst>
</file>

<file path=ppt/tags/tag21.xml><?xml version="1.0" encoding="utf-8"?>
<p:tagLst xmlns:p="http://schemas.openxmlformats.org/presentationml/2006/main">
  <p:tag name="KSO_WM_DIAGRAM_VIRTUALLY_FRAME" val="{&quot;height&quot;:86.7,&quot;left&quot;:65.15,&quot;top&quot;:244.65,&quot;width&quot;:613.05}"/>
</p:tagLst>
</file>

<file path=ppt/tags/tag22.xml><?xml version="1.0" encoding="utf-8"?>
<p:tagLst xmlns:p="http://schemas.openxmlformats.org/presentationml/2006/main">
  <p:tag name="KSO_WM_DIAGRAM_VIRTUALLY_FRAME" val="{&quot;height&quot;:86.7,&quot;left&quot;:65.15,&quot;top&quot;:244.65,&quot;width&quot;:613.05}"/>
</p:tagLst>
</file>

<file path=ppt/tags/tag23.xml><?xml version="1.0" encoding="utf-8"?>
<p:tagLst xmlns:p="http://schemas.openxmlformats.org/presentationml/2006/main">
  <p:tag name="KSO_WM_DIAGRAM_VIRTUALLY_FRAME" val="{&quot;height&quot;:86.7,&quot;left&quot;:65.15,&quot;top&quot;:244.65,&quot;width&quot;:613.05}"/>
</p:tagLst>
</file>

<file path=ppt/tags/tag24.xml><?xml version="1.0" encoding="utf-8"?>
<p:tagLst xmlns:p="http://schemas.openxmlformats.org/presentationml/2006/main">
  <p:tag name="KSO_WM_DIAGRAM_VIRTUALLY_FRAME" val="{&quot;height&quot;:86.7,&quot;left&quot;:65.15,&quot;top&quot;:244.65,&quot;width&quot;:613.05}"/>
</p:tagLst>
</file>

<file path=ppt/tags/tag25.xml><?xml version="1.0" encoding="utf-8"?>
<p:tagLst xmlns:p="http://schemas.openxmlformats.org/presentationml/2006/main">
  <p:tag name="KSO_WM_DIAGRAM_VIRTUALLY_FRAME" val="{&quot;height&quot;:86.7,&quot;left&quot;:65.15,&quot;top&quot;:244.65,&quot;width&quot;:613.05}"/>
</p:tagLst>
</file>

<file path=ppt/tags/tag26.xml><?xml version="1.0" encoding="utf-8"?>
<p:tagLst xmlns:p="http://schemas.openxmlformats.org/presentationml/2006/main">
  <p:tag name="KSO_WM_DIAGRAM_VIRTUALLY_FRAME" val="{&quot;height&quot;:86.7,&quot;left&quot;:65.15,&quot;top&quot;:244.65,&quot;width&quot;:613.05}"/>
</p:tagLst>
</file>

<file path=ppt/tags/tag27.xml><?xml version="1.0" encoding="utf-8"?>
<p:tagLst xmlns:p="http://schemas.openxmlformats.org/presentationml/2006/main">
  <p:tag name="KSO_WM_DIAGRAM_VIRTUALLY_FRAME" val="{&quot;height&quot;:86.7,&quot;left&quot;:65.15,&quot;top&quot;:244.65,&quot;width&quot;:613.05}"/>
</p:tagLst>
</file>

<file path=ppt/tags/tag28.xml><?xml version="1.0" encoding="utf-8"?>
<p:tagLst xmlns:p="http://schemas.openxmlformats.org/presentationml/2006/main">
  <p:tag name="KSO_WM_DIAGRAM_VIRTUALLY_FRAME" val="{&quot;height&quot;:86.7,&quot;left&quot;:65.15,&quot;top&quot;:244.65,&quot;width&quot;:613.05}"/>
</p:tagLst>
</file>

<file path=ppt/tags/tag29.xml><?xml version="1.0" encoding="utf-8"?>
<p:tagLst xmlns:p="http://schemas.openxmlformats.org/presentationml/2006/main">
  <p:tag name="TABLE_ENDDRAG_ORIGIN_RECT" val="546*272"/>
  <p:tag name="TABLE_ENDDRAG_RECT" val="108*106*546*272"/>
</p:tagLst>
</file>

<file path=ppt/theme/theme1.xml><?xml version="1.0" encoding="utf-8"?>
<a:theme xmlns:a="http://schemas.openxmlformats.org/drawingml/2006/main" name="Cycle Diagrams Theme for a Business Plan by Slidesgo">
  <a:themeElements>
    <a:clrScheme name="Simple Light">
      <a:dk1>
        <a:srgbClr val="1B1B1B"/>
      </a:dk1>
      <a:lt1>
        <a:srgbClr val="FAFAFA"/>
      </a:lt1>
      <a:dk2>
        <a:srgbClr val="374768"/>
      </a:dk2>
      <a:lt2>
        <a:srgbClr val="43567F"/>
      </a:lt2>
      <a:accent1>
        <a:srgbClr val="9BACCA"/>
      </a:accent1>
      <a:accent2>
        <a:srgbClr val="C2CDE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B1B1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3512</Words>
  <Application>WPS Presentation</Application>
  <PresentationFormat/>
  <Paragraphs>374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40" baseType="lpstr">
      <vt:lpstr>Arial</vt:lpstr>
      <vt:lpstr>SimSun</vt:lpstr>
      <vt:lpstr>Wingdings</vt:lpstr>
      <vt:lpstr>Arial</vt:lpstr>
      <vt:lpstr>Poppins</vt:lpstr>
      <vt:lpstr>Didact Gothic</vt:lpstr>
      <vt:lpstr>Libre Franklin</vt:lpstr>
      <vt:lpstr>Nunito Light</vt:lpstr>
      <vt:lpstr>한컴 고딕</vt:lpstr>
      <vt:lpstr>Raleway</vt:lpstr>
      <vt:lpstr>Proxima Nova</vt:lpstr>
      <vt:lpstr>Calibri</vt:lpstr>
      <vt:lpstr>Montserrat</vt:lpstr>
      <vt:lpstr>Century Gothic</vt:lpstr>
      <vt:lpstr>Microsoft YaHei</vt:lpstr>
      <vt:lpstr>Arial Unicode MS</vt:lpstr>
      <vt:lpstr>Anaheim</vt:lpstr>
      <vt:lpstr>Amatic SC</vt:lpstr>
      <vt:lpstr>Roboto Medium</vt:lpstr>
      <vt:lpstr>Wingdings</vt:lpstr>
      <vt:lpstr>Cycle Diagrams Theme for a Business Plan by Slidesgo</vt:lpstr>
      <vt:lpstr>Fall Detection: Progress Presentation</vt:lpstr>
      <vt:lpstr>01</vt:lpstr>
      <vt:lpstr>Motivation</vt:lpstr>
      <vt:lpstr>Problems in Existing Work</vt:lpstr>
      <vt:lpstr>Our Objective</vt:lpstr>
      <vt:lpstr>System Overview Diagram</vt:lpstr>
      <vt:lpstr>Cycle Diagram Theme for a Business Plan</vt:lpstr>
      <vt:lpstr>Cycle Diagram Theme for a Business Plan</vt:lpstr>
      <vt:lpstr>Pose Completion</vt:lpstr>
      <vt:lpstr>Temporal Attention (Transformer Encoder)</vt:lpstr>
      <vt:lpstr>Problems in Existing Work</vt:lpstr>
      <vt:lpstr>Dual Output Head</vt:lpstr>
      <vt:lpstr>PowerPoint 演示文稿</vt:lpstr>
      <vt:lpstr>YOLOv8 + AlphaPose + KNN</vt:lpstr>
      <vt:lpstr>Cycle Diagram Theme for a Business Plan</vt:lpstr>
      <vt:lpstr>PowerPoint 演示文稿</vt:lpstr>
      <vt:lpstr>Cycle Diagram Theme for a Business Plan</vt:lpstr>
      <vt:lpstr>Cycle Diagram Theme for a Business Plan</vt:lpstr>
      <vt:lpstr>Thanks!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Fall Detection: Progress Presentation</dc:title>
  <dc:creator/>
  <cp:lastModifiedBy>dalab</cp:lastModifiedBy>
  <cp:revision>4</cp:revision>
  <dcterms:created xsi:type="dcterms:W3CDTF">2025-07-27T23:52:00Z</dcterms:created>
  <dcterms:modified xsi:type="dcterms:W3CDTF">2025-07-28T04:04:35Z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9666E164F0BB4FEB92CAF36530C0F65B_13</vt:lpwstr>
  </property>
  <property fmtid="{D5CDD505-2E9C-101B-9397-08002B2CF9AE}" pid="3" name="KSOProductBuildVer">
    <vt:lpwstr>1033-12.2.0.21931</vt:lpwstr>
  </property>
</Properties>
</file>